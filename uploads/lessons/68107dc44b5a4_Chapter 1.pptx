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41"/>
  </p:notesMasterIdLst>
  <p:sldIdLst>
    <p:sldId id="256" r:id="rId2"/>
    <p:sldId id="257" r:id="rId3"/>
    <p:sldId id="261" r:id="rId4"/>
    <p:sldId id="259" r:id="rId5"/>
    <p:sldId id="263" r:id="rId6"/>
    <p:sldId id="264" r:id="rId7"/>
    <p:sldId id="262" r:id="rId8"/>
    <p:sldId id="266" r:id="rId9"/>
    <p:sldId id="270" r:id="rId10"/>
    <p:sldId id="271" r:id="rId11"/>
    <p:sldId id="269" r:id="rId12"/>
    <p:sldId id="267" r:id="rId13"/>
    <p:sldId id="268" r:id="rId14"/>
    <p:sldId id="274" r:id="rId15"/>
    <p:sldId id="273" r:id="rId16"/>
    <p:sldId id="272" r:id="rId17"/>
    <p:sldId id="276" r:id="rId18"/>
    <p:sldId id="277" r:id="rId19"/>
    <p:sldId id="278" r:id="rId20"/>
    <p:sldId id="275" r:id="rId21"/>
    <p:sldId id="279" r:id="rId22"/>
    <p:sldId id="280" r:id="rId23"/>
    <p:sldId id="281" r:id="rId24"/>
    <p:sldId id="282" r:id="rId25"/>
    <p:sldId id="283" r:id="rId26"/>
    <p:sldId id="284" r:id="rId27"/>
    <p:sldId id="285" r:id="rId28"/>
    <p:sldId id="265" r:id="rId29"/>
    <p:sldId id="287" r:id="rId30"/>
    <p:sldId id="286" r:id="rId31"/>
    <p:sldId id="288" r:id="rId32"/>
    <p:sldId id="289" r:id="rId33"/>
    <p:sldId id="290" r:id="rId34"/>
    <p:sldId id="291" r:id="rId35"/>
    <p:sldId id="292" r:id="rId36"/>
    <p:sldId id="293" r:id="rId37"/>
    <p:sldId id="294" r:id="rId38"/>
    <p:sldId id="295" r:id="rId39"/>
    <p:sldId id="297" r:id="rId4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EC3C"/>
    <a:srgbClr val="CC0000"/>
    <a:srgbClr val="E6B254"/>
    <a:srgbClr val="1D3A00"/>
    <a:srgbClr val="FE9202"/>
    <a:srgbClr val="CC0066"/>
    <a:srgbClr val="D47A02"/>
    <a:srgbClr val="BF7E37"/>
    <a:srgbClr val="E39A39"/>
    <a:srgbClr val="6C1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505" autoAdjust="0"/>
  </p:normalViewPr>
  <p:slideViewPr>
    <p:cSldViewPr>
      <p:cViewPr varScale="1">
        <p:scale>
          <a:sx n="79" d="100"/>
          <a:sy n="79" d="100"/>
        </p:scale>
        <p:origin x="1146" y="54"/>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Client Tier</a:t>
            </a:r>
            <a:r>
              <a:rPr lang="en-US" dirty="0"/>
              <a:t>:</a:t>
            </a:r>
          </a:p>
          <a:p>
            <a:pPr marL="742950" lvl="1" indent="-285750">
              <a:buFont typeface="+mj-lt"/>
              <a:buAutoNum type="arabicPeriod"/>
            </a:pPr>
            <a:r>
              <a:rPr lang="en-US" dirty="0"/>
              <a:t>This is the user's computer or device. It has the application software that allows the user to interact with the database (e.g., entering, retrieving, or updating data).</a:t>
            </a:r>
          </a:p>
          <a:p>
            <a:pPr>
              <a:buFont typeface="+mj-lt"/>
              <a:buAutoNum type="arabicPeriod"/>
            </a:pPr>
            <a:r>
              <a:rPr lang="en-US" b="1" dirty="0"/>
              <a:t>Server Tier</a:t>
            </a:r>
            <a:r>
              <a:rPr lang="en-US" dirty="0"/>
              <a:t>:</a:t>
            </a:r>
          </a:p>
          <a:p>
            <a:pPr marL="742950" lvl="1" indent="-285750">
              <a:buFont typeface="+mj-lt"/>
              <a:buAutoNum type="arabicPeriod"/>
            </a:pPr>
            <a:r>
              <a:rPr lang="en-US" dirty="0"/>
              <a:t>This is where the database resides. It handles data storage, management, and processing. The server responds to the client’s requests by sending back the requested data or updates.</a:t>
            </a:r>
          </a:p>
          <a:p>
            <a:r>
              <a:rPr lang="en-US" dirty="0"/>
              <a:t>In simple terms, the client sends requests (like asking for specific data), and the server processes those requests and sends the results back to the client. This structure is commonly used for smaller systems because it's straightforward and easy to manage.</a:t>
            </a:r>
          </a:p>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31</a:t>
            </a:fld>
            <a:endParaRPr lang="en-US"/>
          </a:p>
        </p:txBody>
      </p:sp>
    </p:spTree>
    <p:extLst>
      <p:ext uri="{BB962C8B-B14F-4D97-AF65-F5344CB8AC3E}">
        <p14:creationId xmlns:p14="http://schemas.microsoft.com/office/powerpoint/2010/main" val="2844130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Sarbanes-Oxley </a:t>
            </a:r>
            <a:r>
              <a:rPr lang="en-US" dirty="0"/>
              <a:t>to protect investors by improving the accuracy and reliability of corporate financial reports. It requires strict rules for financial transparency and holds companies accountable for fraud.</a:t>
            </a:r>
          </a:p>
          <a:p>
            <a:pPr marL="171450" indent="-171450">
              <a:buFont typeface="Arial" panose="020B0604020202020204" pitchFamily="34" charset="0"/>
              <a:buChar char="•"/>
            </a:pPr>
            <a:r>
              <a:rPr lang="en-US" b="1" dirty="0"/>
              <a:t>HIPAA</a:t>
            </a:r>
            <a:r>
              <a:rPr lang="en-US" dirty="0"/>
              <a:t> ( Health Insurance Portability and Accountability Act) protects patient health information by ensuring privacy and security standards. It applies to healthcare providers, insurance companies, and other entities handling health data.</a:t>
            </a:r>
          </a:p>
          <a:p>
            <a:pPr marL="171450" indent="-171450">
              <a:buFont typeface="Arial" panose="020B0604020202020204" pitchFamily="34" charset="0"/>
              <a:buChar char="•"/>
            </a:pPr>
            <a:r>
              <a:rPr lang="en-US" b="1" dirty="0"/>
              <a:t>Basel Convention </a:t>
            </a:r>
            <a:r>
              <a:rPr lang="en-US" dirty="0"/>
              <a:t>An international treaty that controls the movement of hazardous waste between countries, especially from developed to developing nations. It aims to protect human health and the environment from harmful waste.</a:t>
            </a:r>
          </a:p>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38</a:t>
            </a:fld>
            <a:endParaRPr lang="en-US"/>
          </a:p>
        </p:txBody>
      </p:sp>
    </p:spTree>
    <p:extLst>
      <p:ext uri="{BB962C8B-B14F-4D97-AF65-F5344CB8AC3E}">
        <p14:creationId xmlns:p14="http://schemas.microsoft.com/office/powerpoint/2010/main" val="16343115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59785" y="1502815"/>
            <a:ext cx="7635250" cy="1527050"/>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1059785" y="3029866"/>
            <a:ext cx="7635250" cy="1221640"/>
          </a:xfrm>
        </p:spPr>
        <p:txBody>
          <a:bodyPr>
            <a:normAutofit/>
          </a:bodyPr>
          <a:lstStyle>
            <a:lvl1pPr marL="0" indent="0" algn="l">
              <a:buNone/>
              <a:defRPr sz="2800" b="0" i="0">
                <a:solidFill>
                  <a:srgbClr val="5EEC3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670" y="128470"/>
            <a:ext cx="7940659" cy="1068935"/>
          </a:xfrm>
        </p:spPr>
        <p:txBody>
          <a:bodyPr>
            <a:normAutofit/>
          </a:bodyPr>
          <a:lstStyle>
            <a:lvl1pPr algn="l">
              <a:defRPr sz="3600" baseline="0">
                <a:solidFill>
                  <a:srgbClr val="5EEC3C"/>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502815"/>
            <a:ext cx="7940660" cy="3206805"/>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8965" y="281175"/>
            <a:ext cx="6413610" cy="916229"/>
          </a:xfrm>
          <a:noFill/>
        </p:spPr>
        <p:txBody>
          <a:bodyPr>
            <a:normAutofit/>
          </a:bodyPr>
          <a:lstStyle>
            <a:lvl1pPr algn="l">
              <a:defRPr sz="3600">
                <a:solidFill>
                  <a:srgbClr val="5EEC3C"/>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5" y="1197405"/>
            <a:ext cx="6413610" cy="3511061"/>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128471"/>
            <a:ext cx="8246070" cy="1068934"/>
          </a:xfrm>
        </p:spPr>
        <p:txBody>
          <a:bodyPr>
            <a:normAutofit/>
          </a:bodyPr>
          <a:lstStyle>
            <a:lvl1pPr algn="l">
              <a:defRPr sz="3600" baseline="0">
                <a:solidFill>
                  <a:srgbClr val="5EEC3C"/>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7" y="1793944"/>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7" y="2266340"/>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793944"/>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266340"/>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840164" y="2769394"/>
            <a:ext cx="1463675" cy="392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2/18/2025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1044700"/>
            <a:ext cx="3970330" cy="2901395"/>
          </a:xfrm>
        </p:spPr>
        <p:txBody>
          <a:bodyPr>
            <a:normAutofit/>
          </a:bodyPr>
          <a:lstStyle/>
          <a:p>
            <a:r>
              <a:rPr lang="en-US" dirty="0"/>
              <a:t>Chapter 1: </a:t>
            </a:r>
            <a:br>
              <a:rPr lang="en-US" dirty="0"/>
            </a:br>
            <a:r>
              <a:rPr lang="en-US" b="1" dirty="0">
                <a:solidFill>
                  <a:srgbClr val="FFFF00"/>
                </a:solidFill>
              </a:rPr>
              <a:t>Introduction to Database Concepts</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7940660" cy="916230"/>
          </a:xfrm>
        </p:spPr>
        <p:txBody>
          <a:bodyPr/>
          <a:lstStyle/>
          <a:p>
            <a:r>
              <a:rPr lang="en-US" b="1" dirty="0">
                <a:solidFill>
                  <a:srgbClr val="FFFF00"/>
                </a:solidFill>
              </a:rPr>
              <a:t>Database</a:t>
            </a:r>
          </a:p>
        </p:txBody>
      </p:sp>
      <p:sp>
        <p:nvSpPr>
          <p:cNvPr id="3" name="Content Placeholder 2"/>
          <p:cNvSpPr>
            <a:spLocks noGrp="1"/>
          </p:cNvSpPr>
          <p:nvPr>
            <p:ph idx="1"/>
          </p:nvPr>
        </p:nvSpPr>
        <p:spPr/>
        <p:txBody>
          <a:bodyPr>
            <a:normAutofit/>
          </a:bodyPr>
          <a:lstStyle/>
          <a:p>
            <a:pPr marL="457200" indent="-457200">
              <a:buFontTx/>
              <a:buChar char="-"/>
              <a:defRPr/>
            </a:pPr>
            <a:r>
              <a:rPr lang="en-GB" sz="2400" dirty="0">
                <a:cs typeface="Calibri" panose="020F0502020204030204" pitchFamily="34" charset="0"/>
              </a:rPr>
              <a:t>organized collection of logically related data</a:t>
            </a:r>
          </a:p>
          <a:p>
            <a:pPr marL="457200" indent="-457200">
              <a:buFontTx/>
              <a:buChar char="-"/>
              <a:defRPr/>
            </a:pPr>
            <a:r>
              <a:rPr lang="en-GB" sz="2400" dirty="0">
                <a:cs typeface="Calibri" panose="020F0502020204030204" pitchFamily="34" charset="0"/>
              </a:rPr>
              <a:t>may be of any size and complexity</a:t>
            </a:r>
          </a:p>
          <a:p>
            <a:pPr marL="0" indent="0">
              <a:buNone/>
              <a:defRPr/>
            </a:pPr>
            <a:r>
              <a:rPr lang="en-GB" sz="2400" dirty="0">
                <a:cs typeface="Calibri" panose="020F0502020204030204" pitchFamily="34" charset="0"/>
              </a:rPr>
              <a:t>Example:</a:t>
            </a:r>
          </a:p>
          <a:p>
            <a:pPr marL="457200" indent="-457200">
              <a:buFont typeface="Wingdings" panose="05000000000000000000" pitchFamily="2" charset="2"/>
              <a:buChar char="ü"/>
              <a:defRPr/>
            </a:pPr>
            <a:r>
              <a:rPr lang="en-GB" sz="2400" dirty="0">
                <a:cs typeface="Calibri" panose="020F0502020204030204" pitchFamily="34" charset="0"/>
              </a:rPr>
              <a:t>Salesperson – customer contacts</a:t>
            </a:r>
          </a:p>
          <a:p>
            <a:pPr marL="457200" indent="-457200">
              <a:buFont typeface="Wingdings" panose="05000000000000000000" pitchFamily="2" charset="2"/>
              <a:buChar char="ü"/>
              <a:defRPr/>
            </a:pPr>
            <a:r>
              <a:rPr lang="en-GB" sz="2400" dirty="0">
                <a:cs typeface="Calibri" panose="020F0502020204030204" pitchFamily="34" charset="0"/>
              </a:rPr>
              <a:t>Corporation – terabytes (trillion bytes) of data</a:t>
            </a:r>
            <a:endParaRPr lang="en-US" sz="2400" dirty="0"/>
          </a:p>
          <a:p>
            <a:endParaRPr lang="en-US" sz="2400" dirty="0"/>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7940660" cy="916230"/>
          </a:xfrm>
        </p:spPr>
        <p:txBody>
          <a:bodyPr/>
          <a:lstStyle/>
          <a:p>
            <a:r>
              <a:rPr lang="en-US" b="1" dirty="0">
                <a:solidFill>
                  <a:srgbClr val="FFFF00"/>
                </a:solidFill>
              </a:rPr>
              <a:t>Data</a:t>
            </a:r>
          </a:p>
        </p:txBody>
      </p:sp>
      <p:sp>
        <p:nvSpPr>
          <p:cNvPr id="3" name="Content Placeholder 2"/>
          <p:cNvSpPr>
            <a:spLocks noGrp="1"/>
          </p:cNvSpPr>
          <p:nvPr>
            <p:ph idx="1"/>
          </p:nvPr>
        </p:nvSpPr>
        <p:spPr>
          <a:xfrm>
            <a:off x="601670" y="1350110"/>
            <a:ext cx="7940660" cy="3793389"/>
          </a:xfrm>
        </p:spPr>
        <p:txBody>
          <a:bodyPr>
            <a:normAutofit/>
          </a:bodyPr>
          <a:lstStyle/>
          <a:p>
            <a:pPr algn="just">
              <a:spcBef>
                <a:spcPct val="0"/>
              </a:spcBef>
              <a:buFontTx/>
              <a:buChar char="-"/>
            </a:pPr>
            <a:r>
              <a:rPr lang="en-GB" altLang="en-US" sz="2400" dirty="0">
                <a:latin typeface="Calibri" panose="020F0502020204030204" pitchFamily="34" charset="0"/>
                <a:cs typeface="Calibri" panose="020F0502020204030204" pitchFamily="34" charset="0"/>
              </a:rPr>
              <a:t>Referred to facts concerning objects and events that could be recorded.</a:t>
            </a:r>
          </a:p>
          <a:p>
            <a:pPr algn="just">
              <a:spcBef>
                <a:spcPct val="0"/>
              </a:spcBef>
              <a:buFontTx/>
              <a:buChar char="-"/>
            </a:pPr>
            <a:r>
              <a:rPr lang="en-GB" altLang="en-US" sz="2400" dirty="0">
                <a:latin typeface="Calibri" panose="020F0502020204030204" pitchFamily="34" charset="0"/>
                <a:cs typeface="Calibri" panose="020F0502020204030204" pitchFamily="34" charset="0"/>
              </a:rPr>
              <a:t>Stored facts of meaningful and significant events, objects and people.</a:t>
            </a:r>
          </a:p>
          <a:p>
            <a:pPr marL="0" indent="0" algn="just">
              <a:spcBef>
                <a:spcPct val="0"/>
              </a:spcBef>
              <a:buNone/>
            </a:pPr>
            <a:r>
              <a:rPr lang="en-GB" altLang="en-US" sz="2400" b="1" dirty="0">
                <a:latin typeface="Calibri" panose="020F0502020204030204" pitchFamily="34" charset="0"/>
                <a:cs typeface="Calibri" panose="020F0502020204030204" pitchFamily="34" charset="0"/>
              </a:rPr>
              <a:t>2 Types:</a:t>
            </a:r>
          </a:p>
          <a:p>
            <a:pPr marL="0" indent="0" algn="just">
              <a:spcBef>
                <a:spcPct val="0"/>
              </a:spcBef>
              <a:buNone/>
            </a:pPr>
            <a:r>
              <a:rPr lang="en-GB" altLang="en-US" sz="2400" dirty="0">
                <a:solidFill>
                  <a:srgbClr val="FF0000"/>
                </a:solidFill>
                <a:latin typeface="Calibri" panose="020F0502020204030204" pitchFamily="34" charset="0"/>
                <a:cs typeface="Calibri" panose="020F0502020204030204" pitchFamily="34" charset="0"/>
              </a:rPr>
              <a:t>**Structured Data</a:t>
            </a:r>
          </a:p>
          <a:p>
            <a:pPr lvl="0"/>
            <a:r>
              <a:rPr lang="en-GB" sz="2000" dirty="0">
                <a:latin typeface="Calibri" panose="020F0502020204030204" pitchFamily="34" charset="0"/>
                <a:cs typeface="Calibri" panose="020F0502020204030204" pitchFamily="34" charset="0"/>
              </a:rPr>
              <a:t>Name, address, phone numbers</a:t>
            </a:r>
            <a:endParaRPr lang="en-PH" sz="2000" dirty="0">
              <a:latin typeface="Calibri" panose="020F0502020204030204" pitchFamily="34" charset="0"/>
              <a:cs typeface="Calibri" panose="020F0502020204030204" pitchFamily="34" charset="0"/>
            </a:endParaRPr>
          </a:p>
          <a:p>
            <a:pPr lvl="0"/>
            <a:r>
              <a:rPr lang="en-GB" sz="2000" dirty="0">
                <a:latin typeface="Calibri" panose="020F0502020204030204" pitchFamily="34" charset="0"/>
                <a:cs typeface="Calibri" panose="020F0502020204030204" pitchFamily="34" charset="0"/>
              </a:rPr>
              <a:t>Stored in tabular form</a:t>
            </a:r>
            <a:endParaRPr lang="en-GB" altLang="en-US" sz="2000" dirty="0">
              <a:latin typeface="Calibri" panose="020F0502020204030204" pitchFamily="34" charset="0"/>
              <a:cs typeface="Calibri" panose="020F0502020204030204" pitchFamily="34" charset="0"/>
            </a:endParaRPr>
          </a:p>
          <a:p>
            <a:pPr marL="0" indent="0" algn="just">
              <a:spcBef>
                <a:spcPct val="0"/>
              </a:spcBef>
              <a:buNone/>
            </a:pPr>
            <a:r>
              <a:rPr lang="en-GB" altLang="en-US" sz="2400" dirty="0">
                <a:solidFill>
                  <a:srgbClr val="FF0000"/>
                </a:solidFill>
                <a:latin typeface="Calibri" panose="020F0502020204030204" pitchFamily="34" charset="0"/>
                <a:cs typeface="Calibri" panose="020F0502020204030204" pitchFamily="34" charset="0"/>
              </a:rPr>
              <a:t>**Unstructured Data</a:t>
            </a:r>
          </a:p>
          <a:p>
            <a:pPr algn="just">
              <a:spcBef>
                <a:spcPct val="0"/>
              </a:spcBef>
            </a:pPr>
            <a:r>
              <a:rPr lang="en-GB" sz="2000" dirty="0">
                <a:latin typeface="Calibri" panose="020F0502020204030204" pitchFamily="34" charset="0"/>
                <a:cs typeface="Calibri" panose="020F0502020204030204" pitchFamily="34" charset="0"/>
              </a:rPr>
              <a:t>Image, sound, video clips, maps, email, documents</a:t>
            </a:r>
            <a:endParaRPr lang="en-PH"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7598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 descr="FIG1-1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080" y="433880"/>
            <a:ext cx="4323887" cy="3523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p:cNvSpPr txBox="1">
            <a:spLocks noChangeArrowheads="1"/>
          </p:cNvSpPr>
          <p:nvPr/>
        </p:nvSpPr>
        <p:spPr bwMode="auto">
          <a:xfrm>
            <a:off x="1059785" y="3946095"/>
            <a:ext cx="4581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1200" b="1" dirty="0">
                <a:solidFill>
                  <a:srgbClr val="FFFF00"/>
                </a:solidFill>
                <a:latin typeface="Calibri" panose="020F0502020204030204" pitchFamily="34" charset="0"/>
                <a:cs typeface="Calibri" panose="020F0502020204030204" pitchFamily="34" charset="0"/>
              </a:rPr>
              <a:t>Figure 1: Data in Context</a:t>
            </a:r>
          </a:p>
          <a:p>
            <a:pPr marL="285750" indent="-285750" algn="just">
              <a:buFont typeface="Wingdings" panose="05000000000000000000" pitchFamily="2" charset="2"/>
              <a:buChar char="§"/>
              <a:defRPr/>
            </a:pPr>
            <a:r>
              <a:rPr lang="en-US" altLang="en-US" sz="1200" i="1" dirty="0">
                <a:solidFill>
                  <a:schemeClr val="bg1"/>
                </a:solidFill>
                <a:latin typeface="Calibri" panose="020F0502020204030204" pitchFamily="34" charset="0"/>
                <a:cs typeface="Calibri" panose="020F0502020204030204" pitchFamily="34" charset="0"/>
              </a:rPr>
              <a:t>Large volume of facts, difficult to interpret / make decisions</a:t>
            </a:r>
            <a:r>
              <a:rPr lang="en-GB" altLang="en-US" sz="1200" i="1" dirty="0">
                <a:solidFill>
                  <a:schemeClr val="bg1"/>
                </a:solidFill>
                <a:latin typeface="Calibri" panose="020F0502020204030204" pitchFamily="34" charset="0"/>
                <a:cs typeface="Calibri" panose="020F0502020204030204" pitchFamily="34" charset="0"/>
              </a:rPr>
              <a:t> </a:t>
            </a:r>
            <a:endParaRPr lang="en-PH" altLang="en-US" sz="1200" i="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163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7940660" cy="916230"/>
          </a:xfrm>
        </p:spPr>
        <p:txBody>
          <a:bodyPr/>
          <a:lstStyle/>
          <a:p>
            <a:r>
              <a:rPr lang="en-US" b="1" dirty="0">
                <a:solidFill>
                  <a:srgbClr val="FFFF00"/>
                </a:solidFill>
              </a:rPr>
              <a:t>Information</a:t>
            </a:r>
          </a:p>
        </p:txBody>
      </p:sp>
      <p:sp>
        <p:nvSpPr>
          <p:cNvPr id="3" name="Content Placeholder 2"/>
          <p:cNvSpPr>
            <a:spLocks noGrp="1"/>
          </p:cNvSpPr>
          <p:nvPr>
            <p:ph idx="1"/>
          </p:nvPr>
        </p:nvSpPr>
        <p:spPr>
          <a:xfrm>
            <a:off x="601670" y="1350110"/>
            <a:ext cx="7940660" cy="3793389"/>
          </a:xfrm>
        </p:spPr>
        <p:txBody>
          <a:bodyPr>
            <a:normAutofit/>
          </a:bodyPr>
          <a:lstStyle/>
          <a:p>
            <a:pPr algn="just">
              <a:spcBef>
                <a:spcPct val="0"/>
              </a:spcBef>
              <a:buFontTx/>
              <a:buChar char="-"/>
            </a:pPr>
            <a:r>
              <a:rPr lang="en-GB" altLang="en-US" sz="2000" dirty="0">
                <a:latin typeface="Calibri" panose="020F0502020204030204" pitchFamily="34" charset="0"/>
                <a:cs typeface="Calibri" panose="020F0502020204030204" pitchFamily="34" charset="0"/>
              </a:rPr>
              <a:t>Processed data that is useful in decision making</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015" y="1808225"/>
            <a:ext cx="5802790" cy="259598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p:cNvSpPr txBox="1">
            <a:spLocks noChangeArrowheads="1"/>
          </p:cNvSpPr>
          <p:nvPr/>
        </p:nvSpPr>
        <p:spPr bwMode="auto">
          <a:xfrm>
            <a:off x="3350360" y="4446137"/>
            <a:ext cx="37420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1200" b="1" dirty="0">
                <a:solidFill>
                  <a:srgbClr val="FF0000"/>
                </a:solidFill>
                <a:latin typeface="Calibri" panose="020F0502020204030204" pitchFamily="34" charset="0"/>
                <a:cs typeface="Calibri" panose="020F0502020204030204" pitchFamily="34" charset="0"/>
              </a:rPr>
              <a:t>Figure 2: Information</a:t>
            </a:r>
          </a:p>
          <a:p>
            <a:pPr marL="285750" indent="-285750" algn="just">
              <a:buFont typeface="Wingdings" panose="05000000000000000000" pitchFamily="2" charset="2"/>
              <a:buChar char="§"/>
              <a:defRPr/>
            </a:pPr>
            <a:r>
              <a:rPr lang="en-GB" altLang="en-US" sz="1200" i="1" dirty="0">
                <a:latin typeface="Calibri" panose="020F0502020204030204" pitchFamily="34" charset="0"/>
                <a:cs typeface="Calibri" panose="020F0502020204030204" pitchFamily="34" charset="0"/>
              </a:rPr>
              <a:t>Useful for decision making / interpretation</a:t>
            </a:r>
          </a:p>
        </p:txBody>
      </p:sp>
    </p:spTree>
    <p:extLst>
      <p:ext uri="{BB962C8B-B14F-4D97-AF65-F5344CB8AC3E}">
        <p14:creationId xmlns:p14="http://schemas.microsoft.com/office/powerpoint/2010/main" val="813202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7940660" cy="916230"/>
          </a:xfrm>
        </p:spPr>
        <p:txBody>
          <a:bodyPr/>
          <a:lstStyle/>
          <a:p>
            <a:r>
              <a:rPr lang="en-US" b="1" dirty="0">
                <a:solidFill>
                  <a:srgbClr val="FFFF00"/>
                </a:solidFill>
              </a:rPr>
              <a:t>Metadata</a:t>
            </a:r>
          </a:p>
        </p:txBody>
      </p:sp>
      <p:sp>
        <p:nvSpPr>
          <p:cNvPr id="3" name="Content Placeholder 2"/>
          <p:cNvSpPr>
            <a:spLocks noGrp="1"/>
          </p:cNvSpPr>
          <p:nvPr>
            <p:ph idx="1"/>
          </p:nvPr>
        </p:nvSpPr>
        <p:spPr>
          <a:xfrm>
            <a:off x="601670" y="1350110"/>
            <a:ext cx="7940660" cy="3793389"/>
          </a:xfrm>
        </p:spPr>
        <p:txBody>
          <a:bodyPr>
            <a:normAutofit/>
          </a:bodyPr>
          <a:lstStyle/>
          <a:p>
            <a:pPr algn="just">
              <a:buFontTx/>
              <a:buChar char="-"/>
              <a:defRPr/>
            </a:pPr>
            <a:r>
              <a:rPr lang="en-GB" altLang="en-US" sz="2000" dirty="0">
                <a:latin typeface="Calibri" panose="020F0502020204030204" pitchFamily="34" charset="0"/>
                <a:cs typeface="Calibri" panose="020F0502020204030204" pitchFamily="34" charset="0"/>
              </a:rPr>
              <a:t>Data that describe the properties or characteristics of end-user data and the context of that data.</a:t>
            </a:r>
          </a:p>
          <a:p>
            <a:pPr marL="0" indent="0" algn="just">
              <a:buNone/>
              <a:defRPr/>
            </a:pPr>
            <a:r>
              <a:rPr lang="en-GB" altLang="en-US" sz="1800" i="1" dirty="0">
                <a:solidFill>
                  <a:srgbClr val="FF0000"/>
                </a:solidFill>
                <a:latin typeface="Calibri" panose="020F0502020204030204" pitchFamily="34" charset="0"/>
                <a:cs typeface="Calibri" panose="020F0502020204030204" pitchFamily="34" charset="0"/>
              </a:rPr>
              <a:t>Examples</a:t>
            </a:r>
            <a:r>
              <a:rPr lang="en-GB" altLang="en-US" sz="1800" i="1" dirty="0">
                <a:latin typeface="Calibri" panose="020F0502020204030204" pitchFamily="34" charset="0"/>
                <a:cs typeface="Calibri" panose="020F0502020204030204" pitchFamily="34" charset="0"/>
              </a:rPr>
              <a:t>: Data names, definitions, length or size and values.</a:t>
            </a:r>
          </a:p>
        </p:txBody>
      </p:sp>
      <p:pic>
        <p:nvPicPr>
          <p:cNvPr id="6" name="Picture 4" descr="TBL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195" y="2419045"/>
            <a:ext cx="6260905" cy="2557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7918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2400" b="1" dirty="0">
                <a:solidFill>
                  <a:srgbClr val="FFFF00"/>
                </a:solidFill>
              </a:rPr>
              <a:t>Disadvantages of Traditional File Processing System:</a:t>
            </a:r>
          </a:p>
        </p:txBody>
      </p:sp>
      <p:sp>
        <p:nvSpPr>
          <p:cNvPr id="5" name="Content Placeholder 4"/>
          <p:cNvSpPr>
            <a:spLocks noGrp="1"/>
          </p:cNvSpPr>
          <p:nvPr>
            <p:ph idx="1"/>
          </p:nvPr>
        </p:nvSpPr>
        <p:spPr>
          <a:xfrm>
            <a:off x="143555" y="1197405"/>
            <a:ext cx="3664920" cy="3511061"/>
          </a:xfrm>
        </p:spPr>
        <p:txBody>
          <a:bodyPr>
            <a:normAutofit/>
          </a:bodyPr>
          <a:lstStyle/>
          <a:p>
            <a:r>
              <a:rPr lang="en-GB" sz="2400" dirty="0"/>
              <a:t>Program-data dependence</a:t>
            </a:r>
          </a:p>
          <a:p>
            <a:r>
              <a:rPr lang="en-GB" sz="2400" dirty="0"/>
              <a:t>Duplication of data</a:t>
            </a:r>
          </a:p>
          <a:p>
            <a:r>
              <a:rPr lang="en-GB" sz="2400" dirty="0"/>
              <a:t>Limited data sharing</a:t>
            </a:r>
          </a:p>
          <a:p>
            <a:r>
              <a:rPr lang="en-GB" sz="2400" dirty="0"/>
              <a:t>Lengthy development times</a:t>
            </a:r>
          </a:p>
          <a:p>
            <a:r>
              <a:rPr lang="en-GB" sz="2400" dirty="0"/>
              <a:t>Excessive program maintenance</a:t>
            </a:r>
          </a:p>
        </p:txBody>
      </p:sp>
      <p:pic>
        <p:nvPicPr>
          <p:cNvPr id="2" name="Picture 1"/>
          <p:cNvPicPr>
            <a:picLocks noChangeAspect="1"/>
          </p:cNvPicPr>
          <p:nvPr/>
        </p:nvPicPr>
        <p:blipFill>
          <a:blip r:embed="rId2"/>
          <a:stretch>
            <a:fillRect/>
          </a:stretch>
        </p:blipFill>
        <p:spPr>
          <a:xfrm>
            <a:off x="3655770" y="1350110"/>
            <a:ext cx="5026834" cy="2717207"/>
          </a:xfrm>
          <a:prstGeom prst="rect">
            <a:avLst/>
          </a:prstGeom>
        </p:spPr>
      </p:pic>
    </p:spTree>
    <p:extLst>
      <p:ext uri="{BB962C8B-B14F-4D97-AF65-F5344CB8AC3E}">
        <p14:creationId xmlns:p14="http://schemas.microsoft.com/office/powerpoint/2010/main" val="1993599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5" name="TextBox 4"/>
          <p:cNvSpPr txBox="1">
            <a:spLocks noChangeArrowheads="1"/>
          </p:cNvSpPr>
          <p:nvPr/>
        </p:nvSpPr>
        <p:spPr bwMode="auto">
          <a:xfrm>
            <a:off x="448966" y="1502815"/>
            <a:ext cx="763525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2800" b="1" dirty="0">
                <a:solidFill>
                  <a:srgbClr val="0070C0"/>
                </a:solidFill>
                <a:latin typeface="Calibri" panose="020F0502020204030204" pitchFamily="34" charset="0"/>
                <a:cs typeface="Calibri" panose="020F0502020204030204" pitchFamily="34" charset="0"/>
              </a:rPr>
              <a:t>*Data Models</a:t>
            </a:r>
          </a:p>
          <a:p>
            <a:pPr indent="-282575" algn="just">
              <a:buFont typeface="Wingdings" panose="05000000000000000000" pitchFamily="2" charset="2"/>
              <a:buChar char="§"/>
              <a:defRPr/>
            </a:pPr>
            <a:r>
              <a:rPr lang="en-GB" altLang="en-US" sz="2800" dirty="0">
                <a:latin typeface="Calibri" panose="020F0502020204030204" pitchFamily="34" charset="0"/>
                <a:cs typeface="Calibri" panose="020F0502020204030204" pitchFamily="34" charset="0"/>
              </a:rPr>
              <a:t>Graphical systems used to capture the nature and relationships among data.</a:t>
            </a:r>
          </a:p>
          <a:p>
            <a:pPr indent="-282575" algn="just">
              <a:buFont typeface="Wingdings" panose="05000000000000000000" pitchFamily="2" charset="2"/>
              <a:buChar char="§"/>
              <a:defRPr/>
            </a:pPr>
            <a:r>
              <a:rPr lang="en-GB" altLang="en-US" sz="2800" dirty="0">
                <a:latin typeface="Calibri" panose="020F0502020204030204" pitchFamily="34" charset="0"/>
                <a:cs typeface="Calibri" panose="020F0502020204030204" pitchFamily="34" charset="0"/>
              </a:rPr>
              <a:t>Made up of entities, attributes and relationship</a:t>
            </a:r>
          </a:p>
          <a:p>
            <a:pPr indent="-282575" algn="just">
              <a:buFont typeface="Wingdings" panose="05000000000000000000" pitchFamily="2" charset="2"/>
              <a:buChar char="§"/>
              <a:defRPr/>
            </a:pPr>
            <a:r>
              <a:rPr lang="en-GB" altLang="en-US" sz="2800" u="sng" dirty="0">
                <a:latin typeface="Calibri" panose="020F0502020204030204" pitchFamily="34" charset="0"/>
                <a:cs typeface="Calibri" panose="020F0502020204030204" pitchFamily="34" charset="0"/>
              </a:rPr>
              <a:t>ER-Model</a:t>
            </a:r>
            <a:r>
              <a:rPr lang="en-GB" altLang="en-US" sz="2800" dirty="0">
                <a:latin typeface="Calibri" panose="020F0502020204030204" pitchFamily="34" charset="0"/>
                <a:cs typeface="Calibri" panose="020F0502020204030204" pitchFamily="34" charset="0"/>
              </a:rPr>
              <a:t> – most common data modelling representation</a:t>
            </a:r>
          </a:p>
        </p:txBody>
      </p:sp>
    </p:spTree>
    <p:extLst>
      <p:ext uri="{BB962C8B-B14F-4D97-AF65-F5344CB8AC3E}">
        <p14:creationId xmlns:p14="http://schemas.microsoft.com/office/powerpoint/2010/main" val="182586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5" name="TextBox 4"/>
          <p:cNvSpPr txBox="1">
            <a:spLocks noChangeArrowheads="1"/>
          </p:cNvSpPr>
          <p:nvPr/>
        </p:nvSpPr>
        <p:spPr bwMode="auto">
          <a:xfrm>
            <a:off x="448965" y="1318083"/>
            <a:ext cx="8398775"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2200" b="1" dirty="0">
                <a:solidFill>
                  <a:srgbClr val="0070C0"/>
                </a:solidFill>
                <a:latin typeface="Calibri" panose="020F0502020204030204" pitchFamily="34" charset="0"/>
                <a:cs typeface="Calibri" panose="020F0502020204030204" pitchFamily="34" charset="0"/>
              </a:rPr>
              <a:t>*</a:t>
            </a:r>
            <a:r>
              <a:rPr lang="en-GB" altLang="en-US" sz="2200" b="1" u="sng" dirty="0">
                <a:solidFill>
                  <a:srgbClr val="0070C0"/>
                </a:solidFill>
                <a:latin typeface="Calibri" panose="020F0502020204030204" pitchFamily="34" charset="0"/>
                <a:cs typeface="Calibri" panose="020F0502020204030204" pitchFamily="34" charset="0"/>
              </a:rPr>
              <a:t>Entities</a:t>
            </a:r>
          </a:p>
          <a:p>
            <a:pPr indent="-282575" algn="just">
              <a:buFont typeface="Wingdings" panose="05000000000000000000" pitchFamily="2" charset="2"/>
              <a:buChar char="§"/>
              <a:defRPr/>
            </a:pPr>
            <a:r>
              <a:rPr lang="en-GB" altLang="en-US" sz="2200" dirty="0">
                <a:latin typeface="Calibri" panose="020F0502020204030204" pitchFamily="34" charset="0"/>
                <a:cs typeface="Calibri" panose="020F0502020204030204" pitchFamily="34" charset="0"/>
              </a:rPr>
              <a:t>describes a person, a place, an object, an event, or a concept in the business environment for which information must be recorded and retained.</a:t>
            </a:r>
          </a:p>
          <a:p>
            <a:pPr marL="174625" indent="0" algn="just">
              <a:defRPr/>
            </a:pPr>
            <a:r>
              <a:rPr lang="en-GB" altLang="en-US" sz="2200" u="sng" dirty="0">
                <a:latin typeface="Calibri" panose="020F0502020204030204" pitchFamily="34" charset="0"/>
                <a:cs typeface="Calibri" panose="020F0502020204030204" pitchFamily="34" charset="0"/>
              </a:rPr>
              <a:t>Example</a:t>
            </a:r>
            <a:r>
              <a:rPr lang="en-GB" altLang="en-US" sz="2200" dirty="0">
                <a:latin typeface="Calibri" panose="020F0502020204030204" pitchFamily="34" charset="0"/>
                <a:cs typeface="Calibri" panose="020F0502020204030204" pitchFamily="34" charset="0"/>
              </a:rPr>
              <a:t>:</a:t>
            </a:r>
          </a:p>
          <a:p>
            <a:pPr marL="631825" algn="just">
              <a:buFont typeface="Wingdings" panose="05000000000000000000" pitchFamily="2" charset="2"/>
              <a:buChar char="ü"/>
              <a:defRPr/>
            </a:pPr>
            <a:r>
              <a:rPr lang="en-GB" altLang="en-US" sz="2200" b="1" dirty="0">
                <a:latin typeface="Calibri" panose="020F0502020204030204" pitchFamily="34" charset="0"/>
                <a:cs typeface="Calibri" panose="020F0502020204030204" pitchFamily="34" charset="0"/>
              </a:rPr>
              <a:t>CUSTOMER</a:t>
            </a:r>
            <a:r>
              <a:rPr lang="en-GB" altLang="en-US" sz="2200" dirty="0">
                <a:latin typeface="Calibri" panose="020F0502020204030204" pitchFamily="34" charset="0"/>
                <a:cs typeface="Calibri" panose="020F0502020204030204" pitchFamily="34" charset="0"/>
              </a:rPr>
              <a:t> and </a:t>
            </a:r>
            <a:r>
              <a:rPr lang="en-GB" altLang="en-US" sz="2200" b="1" dirty="0">
                <a:latin typeface="Calibri" panose="020F0502020204030204" pitchFamily="34" charset="0"/>
                <a:cs typeface="Calibri" panose="020F0502020204030204" pitchFamily="34" charset="0"/>
              </a:rPr>
              <a:t>ORDER</a:t>
            </a:r>
            <a:r>
              <a:rPr lang="en-GB" altLang="en-US" sz="2200" dirty="0">
                <a:latin typeface="Calibri" panose="020F0502020204030204" pitchFamily="34" charset="0"/>
                <a:cs typeface="Calibri" panose="020F0502020204030204" pitchFamily="34" charset="0"/>
              </a:rPr>
              <a:t> are </a:t>
            </a:r>
            <a:r>
              <a:rPr lang="en-GB" altLang="en-US" sz="2200" b="1" dirty="0">
                <a:solidFill>
                  <a:srgbClr val="FF0000"/>
                </a:solidFill>
                <a:latin typeface="Calibri" panose="020F0502020204030204" pitchFamily="34" charset="0"/>
                <a:cs typeface="Calibri" panose="020F0502020204030204" pitchFamily="34" charset="0"/>
              </a:rPr>
              <a:t>entities</a:t>
            </a:r>
            <a:r>
              <a:rPr lang="en-GB" altLang="en-US" sz="2200" b="1" dirty="0">
                <a:latin typeface="Calibri" panose="020F0502020204030204" pitchFamily="34" charset="0"/>
                <a:cs typeface="Calibri" panose="020F0502020204030204" pitchFamily="34" charset="0"/>
              </a:rPr>
              <a:t>.</a:t>
            </a:r>
          </a:p>
          <a:p>
            <a:pPr marL="631825" algn="just">
              <a:buFont typeface="Wingdings" panose="05000000000000000000" pitchFamily="2" charset="2"/>
              <a:buChar char="ü"/>
              <a:defRPr/>
            </a:pPr>
            <a:r>
              <a:rPr lang="en-GB" altLang="en-US" sz="2200" b="1" dirty="0">
                <a:latin typeface="Calibri" panose="020F0502020204030204" pitchFamily="34" charset="0"/>
                <a:cs typeface="Calibri" panose="020F0502020204030204" pitchFamily="34" charset="0"/>
              </a:rPr>
              <a:t>Customer Name </a:t>
            </a:r>
            <a:r>
              <a:rPr lang="en-GB" altLang="en-US" sz="2200" dirty="0">
                <a:latin typeface="Calibri" panose="020F0502020204030204" pitchFamily="34" charset="0"/>
                <a:cs typeface="Calibri" panose="020F0502020204030204" pitchFamily="34" charset="0"/>
              </a:rPr>
              <a:t>(data of the entity CUSTOMER) is an </a:t>
            </a:r>
            <a:r>
              <a:rPr lang="en-GB" altLang="en-US" sz="2200" b="1" dirty="0">
                <a:solidFill>
                  <a:srgbClr val="FF0000"/>
                </a:solidFill>
                <a:latin typeface="Calibri" panose="020F0502020204030204" pitchFamily="34" charset="0"/>
                <a:cs typeface="Calibri" panose="020F0502020204030204" pitchFamily="34" charset="0"/>
              </a:rPr>
              <a:t>attribute</a:t>
            </a:r>
            <a:r>
              <a:rPr lang="en-GB" altLang="en-US" sz="2200" b="1" dirty="0">
                <a:latin typeface="Calibri" panose="020F0502020204030204" pitchFamily="34" charset="0"/>
                <a:cs typeface="Calibri" panose="020F0502020204030204" pitchFamily="34" charset="0"/>
              </a:rPr>
              <a:t>.</a:t>
            </a:r>
          </a:p>
          <a:p>
            <a:pPr marL="631825" algn="just">
              <a:buFont typeface="Wingdings" panose="05000000000000000000" pitchFamily="2" charset="2"/>
              <a:buChar char="ü"/>
              <a:defRPr/>
            </a:pPr>
            <a:r>
              <a:rPr lang="en-GB" altLang="en-US" sz="2200" dirty="0">
                <a:latin typeface="Calibri" panose="020F0502020204030204" pitchFamily="34" charset="0"/>
                <a:cs typeface="Calibri" panose="020F0502020204030204" pitchFamily="34" charset="0"/>
              </a:rPr>
              <a:t>Each </a:t>
            </a:r>
            <a:r>
              <a:rPr lang="en-GB" altLang="en-US" sz="2200" b="1" dirty="0">
                <a:latin typeface="Calibri" panose="020F0502020204030204" pitchFamily="34" charset="0"/>
                <a:cs typeface="Calibri" panose="020F0502020204030204" pitchFamily="34" charset="0"/>
              </a:rPr>
              <a:t>customer information </a:t>
            </a:r>
            <a:r>
              <a:rPr lang="en-GB" altLang="en-US" sz="2200" dirty="0">
                <a:latin typeface="Calibri" panose="020F0502020204030204" pitchFamily="34" charset="0"/>
                <a:cs typeface="Calibri" panose="020F0502020204030204" pitchFamily="34" charset="0"/>
              </a:rPr>
              <a:t>(like name, address, phone number, etc.) is an </a:t>
            </a:r>
            <a:r>
              <a:rPr lang="en-GB" altLang="en-US" sz="2200" b="1" dirty="0">
                <a:solidFill>
                  <a:srgbClr val="FF0000"/>
                </a:solidFill>
                <a:latin typeface="Calibri" panose="020F0502020204030204" pitchFamily="34" charset="0"/>
                <a:cs typeface="Calibri" panose="020F0502020204030204" pitchFamily="34" charset="0"/>
              </a:rPr>
              <a:t>instance</a:t>
            </a:r>
            <a:r>
              <a:rPr lang="en-GB" altLang="en-US" sz="2200" b="1" dirty="0">
                <a:latin typeface="Calibri" panose="020F0502020204030204" pitchFamily="34" charset="0"/>
                <a:cs typeface="Calibri" panose="020F0502020204030204" pitchFamily="34" charset="0"/>
              </a:rPr>
              <a:t> </a:t>
            </a:r>
            <a:r>
              <a:rPr lang="en-GB" altLang="en-US" sz="2200" dirty="0">
                <a:latin typeface="Calibri" panose="020F0502020204030204" pitchFamily="34" charset="0"/>
                <a:cs typeface="Calibri" panose="020F0502020204030204" pitchFamily="34" charset="0"/>
              </a:rPr>
              <a:t>(record) of </a:t>
            </a:r>
            <a:r>
              <a:rPr lang="en-GB" altLang="en-US" sz="2200" b="1" dirty="0">
                <a:latin typeface="Calibri" panose="020F0502020204030204" pitchFamily="34" charset="0"/>
                <a:cs typeface="Calibri" panose="020F0502020204030204" pitchFamily="34" charset="0"/>
              </a:rPr>
              <a:t>CUSTOMER</a:t>
            </a:r>
            <a:r>
              <a:rPr lang="en-GB" altLang="en-US" sz="2200" dirty="0">
                <a:latin typeface="Calibri" panose="020F0502020204030204" pitchFamily="34" charset="0"/>
                <a:cs typeface="Calibri" panose="020F0502020204030204" pitchFamily="34" charset="0"/>
              </a:rPr>
              <a:t> (entity).</a:t>
            </a:r>
          </a:p>
        </p:txBody>
      </p:sp>
    </p:spTree>
    <p:extLst>
      <p:ext uri="{BB962C8B-B14F-4D97-AF65-F5344CB8AC3E}">
        <p14:creationId xmlns:p14="http://schemas.microsoft.com/office/powerpoint/2010/main" val="3847814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4" name="TextBox 4"/>
          <p:cNvSpPr txBox="1">
            <a:spLocks noChangeArrowheads="1"/>
          </p:cNvSpPr>
          <p:nvPr/>
        </p:nvSpPr>
        <p:spPr bwMode="auto">
          <a:xfrm>
            <a:off x="448965" y="1350110"/>
            <a:ext cx="809336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2800" b="1" dirty="0">
                <a:solidFill>
                  <a:srgbClr val="0070C0"/>
                </a:solidFill>
                <a:latin typeface="Calibri" panose="020F0502020204030204" pitchFamily="34" charset="0"/>
                <a:cs typeface="Calibri" panose="020F0502020204030204" pitchFamily="34" charset="0"/>
              </a:rPr>
              <a:t>*</a:t>
            </a:r>
            <a:r>
              <a:rPr lang="en-GB" altLang="en-US" sz="2400" b="1" u="sng" dirty="0">
                <a:solidFill>
                  <a:srgbClr val="0070C0"/>
                </a:solidFill>
                <a:latin typeface="Calibri" panose="020F0502020204030204" pitchFamily="34" charset="0"/>
                <a:cs typeface="Calibri" panose="020F0502020204030204" pitchFamily="34" charset="0"/>
              </a:rPr>
              <a:t>Relationship</a:t>
            </a:r>
          </a:p>
          <a:p>
            <a:pPr indent="-282575" algn="just">
              <a:buFont typeface="Wingdings" panose="05000000000000000000" pitchFamily="2" charset="2"/>
              <a:buChar char="§"/>
              <a:defRPr/>
            </a:pPr>
            <a:r>
              <a:rPr lang="en-GB" altLang="en-US" sz="2400" dirty="0">
                <a:latin typeface="Calibri" panose="020F0502020204030204" pitchFamily="34" charset="0"/>
                <a:cs typeface="Calibri" panose="020F0502020204030204" pitchFamily="34" charset="0"/>
              </a:rPr>
              <a:t>the way in which two or more data sets are linked. </a:t>
            </a:r>
          </a:p>
          <a:p>
            <a:pPr indent="-282575" algn="just">
              <a:buFont typeface="Wingdings" panose="05000000000000000000" pitchFamily="2" charset="2"/>
              <a:buChar char="§"/>
              <a:defRPr/>
            </a:pPr>
            <a:r>
              <a:rPr lang="en-GB" altLang="en-US" sz="2400" dirty="0">
                <a:latin typeface="Calibri" panose="020F0502020204030204" pitchFamily="34" charset="0"/>
                <a:cs typeface="Calibri" panose="020F0502020204030204" pitchFamily="34" charset="0"/>
              </a:rPr>
              <a:t>represented by a </a:t>
            </a:r>
            <a:r>
              <a:rPr lang="en-GB" altLang="en-US" sz="2400" u="sng" dirty="0">
                <a:latin typeface="Calibri" panose="020F0502020204030204" pitchFamily="34" charset="0"/>
                <a:cs typeface="Calibri" panose="020F0502020204030204" pitchFamily="34" charset="0"/>
              </a:rPr>
              <a:t>diamond shape</a:t>
            </a:r>
            <a:r>
              <a:rPr lang="en-GB" altLang="en-US" sz="2400" dirty="0">
                <a:latin typeface="Calibri" panose="020F0502020204030204" pitchFamily="34" charset="0"/>
                <a:cs typeface="Calibri" panose="020F0502020204030204" pitchFamily="34" charset="0"/>
              </a:rPr>
              <a:t>.</a:t>
            </a:r>
          </a:p>
          <a:p>
            <a:pPr marL="174625" indent="0" algn="just">
              <a:defRPr/>
            </a:pPr>
            <a:r>
              <a:rPr lang="en-GB" altLang="en-US" sz="2400" dirty="0">
                <a:latin typeface="Calibri" panose="020F0502020204030204" pitchFamily="34" charset="0"/>
                <a:cs typeface="Calibri" panose="020F0502020204030204" pitchFamily="34" charset="0"/>
              </a:rPr>
              <a:t>Example:</a:t>
            </a:r>
          </a:p>
          <a:p>
            <a:pPr marL="631825" algn="just">
              <a:buFont typeface="Wingdings" panose="05000000000000000000" pitchFamily="2" charset="2"/>
              <a:buChar char="ü"/>
              <a:defRPr/>
            </a:pPr>
            <a:r>
              <a:rPr lang="en-GB" altLang="en-US" sz="2400" dirty="0">
                <a:latin typeface="Calibri" panose="020F0502020204030204" pitchFamily="34" charset="0"/>
                <a:cs typeface="Calibri" panose="020F0502020204030204" pitchFamily="34" charset="0"/>
              </a:rPr>
              <a:t>One-to-one</a:t>
            </a:r>
          </a:p>
          <a:p>
            <a:pPr marL="631825" algn="just">
              <a:buFont typeface="Wingdings" panose="05000000000000000000" pitchFamily="2" charset="2"/>
              <a:buChar char="ü"/>
              <a:defRPr/>
            </a:pPr>
            <a:r>
              <a:rPr lang="en-GB" altLang="en-US" sz="2400" dirty="0">
                <a:latin typeface="Calibri" panose="020F0502020204030204" pitchFamily="34" charset="0"/>
                <a:cs typeface="Calibri" panose="020F0502020204030204" pitchFamily="34" charset="0"/>
              </a:rPr>
              <a:t>One-to-many</a:t>
            </a:r>
          </a:p>
          <a:p>
            <a:pPr marL="631825" algn="just">
              <a:buFont typeface="Wingdings" panose="05000000000000000000" pitchFamily="2" charset="2"/>
              <a:buChar char="ü"/>
              <a:defRPr/>
            </a:pPr>
            <a:r>
              <a:rPr lang="en-GB" altLang="en-US" sz="2400" dirty="0">
                <a:latin typeface="Calibri" panose="020F0502020204030204" pitchFamily="34" charset="0"/>
                <a:cs typeface="Calibri" panose="020F0502020204030204" pitchFamily="34" charset="0"/>
              </a:rPr>
              <a:t>Many-to-many</a:t>
            </a:r>
          </a:p>
          <a:p>
            <a:pPr marL="631825" algn="just">
              <a:buFont typeface="Wingdings" panose="05000000000000000000" pitchFamily="2" charset="2"/>
              <a:buChar char="ü"/>
              <a:defRPr/>
            </a:pPr>
            <a:r>
              <a:rPr lang="en-GB" altLang="en-US" sz="2400" dirty="0">
                <a:latin typeface="Calibri" panose="020F0502020204030204" pitchFamily="34" charset="0"/>
                <a:cs typeface="Calibri" panose="020F0502020204030204" pitchFamily="34" charset="0"/>
              </a:rPr>
              <a:t>Many-to-one</a:t>
            </a:r>
          </a:p>
        </p:txBody>
      </p:sp>
    </p:spTree>
    <p:extLst>
      <p:ext uri="{BB962C8B-B14F-4D97-AF65-F5344CB8AC3E}">
        <p14:creationId xmlns:p14="http://schemas.microsoft.com/office/powerpoint/2010/main" val="272022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4" name="TextBox 4"/>
          <p:cNvSpPr txBox="1">
            <a:spLocks noChangeArrowheads="1"/>
          </p:cNvSpPr>
          <p:nvPr/>
        </p:nvSpPr>
        <p:spPr bwMode="auto">
          <a:xfrm>
            <a:off x="143556" y="1350110"/>
            <a:ext cx="3359510" cy="358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2400" b="1" dirty="0">
                <a:solidFill>
                  <a:srgbClr val="0070C0"/>
                </a:solidFill>
                <a:latin typeface="Calibri" panose="020F0502020204030204" pitchFamily="34" charset="0"/>
                <a:cs typeface="Calibri" panose="020F0502020204030204" pitchFamily="34" charset="0"/>
              </a:rPr>
              <a:t>*Types of Data Models</a:t>
            </a:r>
          </a:p>
          <a:p>
            <a:pPr marL="0" indent="0" algn="just">
              <a:defRPr/>
            </a:pPr>
            <a:endParaRPr lang="en-GB" altLang="en-US" sz="1100" b="1" dirty="0">
              <a:solidFill>
                <a:srgbClr val="0070C0"/>
              </a:solidFill>
              <a:latin typeface="Calibri" panose="020F0502020204030204" pitchFamily="34" charset="0"/>
              <a:cs typeface="Calibri" panose="020F0502020204030204" pitchFamily="34" charset="0"/>
            </a:endParaRPr>
          </a:p>
          <a:p>
            <a:pPr marL="449263" indent="-274638"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Hierarchical Model</a:t>
            </a:r>
          </a:p>
          <a:p>
            <a:pPr marL="631825" algn="just">
              <a:buFontTx/>
              <a:buChar char="-"/>
              <a:defRPr/>
            </a:pPr>
            <a:r>
              <a:rPr lang="en-GB" altLang="en-US" sz="2400" dirty="0">
                <a:latin typeface="Calibri" panose="020F0502020204030204" pitchFamily="34" charset="0"/>
                <a:cs typeface="Calibri" panose="020F0502020204030204" pitchFamily="34" charset="0"/>
              </a:rPr>
              <a:t>Data is presented in hierarchical tree structure.</a:t>
            </a:r>
          </a:p>
          <a:p>
            <a:pPr marL="631825" algn="just">
              <a:buFontTx/>
              <a:buChar char="-"/>
              <a:defRPr/>
            </a:pPr>
            <a:r>
              <a:rPr lang="en-GB" altLang="en-US" sz="2400" dirty="0">
                <a:latin typeface="Calibri" panose="020F0502020204030204" pitchFamily="34" charset="0"/>
                <a:cs typeface="Calibri" panose="020F0502020204030204" pitchFamily="34" charset="0"/>
              </a:rPr>
              <a:t>Each branch of the hierarchy represents a number of related records.</a:t>
            </a:r>
          </a:p>
        </p:txBody>
      </p:sp>
      <p:pic>
        <p:nvPicPr>
          <p:cNvPr id="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08475" y="1960930"/>
            <a:ext cx="5021200" cy="261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3202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4" name="TextBox 4"/>
          <p:cNvSpPr txBox="1">
            <a:spLocks noChangeArrowheads="1"/>
          </p:cNvSpPr>
          <p:nvPr/>
        </p:nvSpPr>
        <p:spPr bwMode="auto">
          <a:xfrm>
            <a:off x="143555" y="1350110"/>
            <a:ext cx="3970330" cy="321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2400" b="1" dirty="0">
                <a:solidFill>
                  <a:srgbClr val="0070C0"/>
                </a:solidFill>
                <a:latin typeface="Calibri" panose="020F0502020204030204" pitchFamily="34" charset="0"/>
                <a:cs typeface="Calibri" panose="020F0502020204030204" pitchFamily="34" charset="0"/>
              </a:rPr>
              <a:t>*Types of Data Models</a:t>
            </a:r>
          </a:p>
          <a:p>
            <a:pPr marL="0" indent="0" algn="just">
              <a:defRPr/>
            </a:pPr>
            <a:endParaRPr lang="en-GB" altLang="en-US" sz="1100" b="1" dirty="0">
              <a:solidFill>
                <a:srgbClr val="0070C0"/>
              </a:solidFill>
              <a:latin typeface="Calibri" panose="020F0502020204030204" pitchFamily="34" charset="0"/>
              <a:cs typeface="Calibri" panose="020F0502020204030204" pitchFamily="34" charset="0"/>
            </a:endParaRPr>
          </a:p>
          <a:p>
            <a:pPr marL="449263" indent="-274638"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Network Model</a:t>
            </a:r>
          </a:p>
          <a:p>
            <a:pPr marL="631825" algn="just">
              <a:buFontTx/>
              <a:buChar char="-"/>
              <a:defRPr/>
            </a:pPr>
            <a:r>
              <a:rPr lang="en-GB" altLang="en-US" sz="2400" dirty="0">
                <a:latin typeface="Calibri" panose="020F0502020204030204" pitchFamily="34" charset="0"/>
                <a:cs typeface="Calibri" panose="020F0502020204030204" pitchFamily="34" charset="0"/>
              </a:rPr>
              <a:t>Represents data as record type. </a:t>
            </a:r>
          </a:p>
          <a:p>
            <a:pPr marL="631825" algn="just">
              <a:buFontTx/>
              <a:buChar char="-"/>
              <a:defRPr/>
            </a:pPr>
            <a:r>
              <a:rPr lang="en-GB" altLang="en-US" sz="2400" dirty="0">
                <a:latin typeface="Calibri" panose="020F0502020204030204" pitchFamily="34" charset="0"/>
                <a:cs typeface="Calibri" panose="020F0502020204030204" pitchFamily="34" charset="0"/>
              </a:rPr>
              <a:t>represents a limited type of one to many relationship called a </a:t>
            </a:r>
            <a:r>
              <a:rPr lang="en-GB" altLang="en-US" sz="2400" i="1" dirty="0">
                <a:latin typeface="Calibri" panose="020F0502020204030204" pitchFamily="34" charset="0"/>
                <a:cs typeface="Calibri" panose="020F0502020204030204" pitchFamily="34" charset="0"/>
              </a:rPr>
              <a:t>set type.</a:t>
            </a:r>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b="7648"/>
          <a:stretch>
            <a:fillRect/>
          </a:stretch>
        </p:blipFill>
        <p:spPr bwMode="auto">
          <a:xfrm>
            <a:off x="4266590" y="1782790"/>
            <a:ext cx="4581150" cy="3128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2401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4" name="TextBox 4"/>
          <p:cNvSpPr txBox="1">
            <a:spLocks noChangeArrowheads="1"/>
          </p:cNvSpPr>
          <p:nvPr/>
        </p:nvSpPr>
        <p:spPr bwMode="auto">
          <a:xfrm>
            <a:off x="143555" y="1350110"/>
            <a:ext cx="3817625"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lgn="just">
              <a:defRPr/>
            </a:pPr>
            <a:r>
              <a:rPr lang="en-GB" altLang="en-US" sz="2400" b="1" dirty="0">
                <a:solidFill>
                  <a:srgbClr val="0070C0"/>
                </a:solidFill>
                <a:latin typeface="Calibri" panose="020F0502020204030204" pitchFamily="34" charset="0"/>
                <a:cs typeface="Calibri" panose="020F0502020204030204" pitchFamily="34" charset="0"/>
              </a:rPr>
              <a:t>*Types of Data Models</a:t>
            </a:r>
          </a:p>
          <a:p>
            <a:pPr marL="0" indent="0" algn="just">
              <a:defRPr/>
            </a:pPr>
            <a:endParaRPr lang="en-GB" altLang="en-US" sz="1100" b="1" dirty="0">
              <a:solidFill>
                <a:srgbClr val="0070C0"/>
              </a:solidFill>
              <a:latin typeface="Calibri" panose="020F0502020204030204" pitchFamily="34" charset="0"/>
              <a:cs typeface="Calibri" panose="020F0502020204030204" pitchFamily="34" charset="0"/>
            </a:endParaRPr>
          </a:p>
          <a:p>
            <a:pPr marL="449263" indent="-274638"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Relational Model</a:t>
            </a:r>
          </a:p>
          <a:p>
            <a:pPr marL="631825" algn="just">
              <a:buFontTx/>
              <a:buChar char="-"/>
              <a:defRPr/>
            </a:pPr>
            <a:r>
              <a:rPr lang="en-GB" altLang="en-US" sz="2400" dirty="0">
                <a:latin typeface="Calibri" panose="020F0502020204030204" pitchFamily="34" charset="0"/>
                <a:cs typeface="Calibri" panose="020F0502020204030204" pitchFamily="34" charset="0"/>
              </a:rPr>
              <a:t>represents data as relations, or tables.</a:t>
            </a:r>
          </a:p>
          <a:p>
            <a:pPr marL="631825" algn="just">
              <a:buFontTx/>
              <a:buChar char="-"/>
              <a:defRPr/>
            </a:pPr>
            <a:r>
              <a:rPr lang="en-GB" altLang="en-US" sz="2400" dirty="0">
                <a:latin typeface="Calibri" panose="020F0502020204030204" pitchFamily="34" charset="0"/>
                <a:cs typeface="Calibri" panose="020F0502020204030204" pitchFamily="34" charset="0"/>
              </a:rPr>
              <a:t>Each record is said to be an instance of the table.</a:t>
            </a:r>
          </a:p>
        </p:txBody>
      </p:sp>
      <p:pic>
        <p:nvPicPr>
          <p:cNvPr id="2050" name="Picture 2" descr="Diagram of the Relational Data Model for South African Municipalities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3885" y="1655520"/>
            <a:ext cx="4617562" cy="313451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697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4" name="TextBox 4"/>
          <p:cNvSpPr txBox="1">
            <a:spLocks noChangeArrowheads="1"/>
          </p:cNvSpPr>
          <p:nvPr/>
        </p:nvSpPr>
        <p:spPr bwMode="auto">
          <a:xfrm>
            <a:off x="296260" y="2266340"/>
            <a:ext cx="381762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4625" indent="0" algn="just">
              <a:defRPr/>
            </a:pPr>
            <a:r>
              <a:rPr lang="en-GB" altLang="en-US" sz="2400" b="1" dirty="0">
                <a:solidFill>
                  <a:schemeClr val="accent3">
                    <a:lumMod val="50000"/>
                  </a:schemeClr>
                </a:solidFill>
                <a:latin typeface="Calibri" panose="020F0502020204030204" pitchFamily="34" charset="0"/>
                <a:cs typeface="Calibri" panose="020F0502020204030204" pitchFamily="34" charset="0"/>
              </a:rPr>
              <a:t>Enterprise-Level Model</a:t>
            </a:r>
          </a:p>
          <a:p>
            <a:pPr marL="631825" algn="just">
              <a:buFontTx/>
              <a:buChar char="-"/>
              <a:defRPr/>
            </a:pPr>
            <a:r>
              <a:rPr lang="en-GB" altLang="en-US" sz="2400" dirty="0">
                <a:latin typeface="Calibri" panose="020F0502020204030204" pitchFamily="34" charset="0"/>
                <a:cs typeface="Calibri" panose="020F0502020204030204" pitchFamily="34" charset="0"/>
              </a:rPr>
              <a:t>include only the higher-level relationships of customers, orders, and products.</a:t>
            </a:r>
          </a:p>
        </p:txBody>
      </p:sp>
      <p:pic>
        <p:nvPicPr>
          <p:cNvPr id="5" name="Picture 4"/>
          <p:cNvPicPr>
            <a:picLocks noChangeAspect="1"/>
          </p:cNvPicPr>
          <p:nvPr/>
        </p:nvPicPr>
        <p:blipFill>
          <a:blip r:embed="rId2"/>
          <a:stretch>
            <a:fillRect/>
          </a:stretch>
        </p:blipFill>
        <p:spPr>
          <a:xfrm>
            <a:off x="4572000" y="1502815"/>
            <a:ext cx="3902927" cy="3306743"/>
          </a:xfrm>
          <a:prstGeom prst="rect">
            <a:avLst/>
          </a:prstGeom>
        </p:spPr>
      </p:pic>
    </p:spTree>
    <p:extLst>
      <p:ext uri="{BB962C8B-B14F-4D97-AF65-F5344CB8AC3E}">
        <p14:creationId xmlns:p14="http://schemas.microsoft.com/office/powerpoint/2010/main" val="2559888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401853"/>
            <a:ext cx="7940660" cy="916230"/>
          </a:xfrm>
        </p:spPr>
        <p:txBody>
          <a:bodyPr>
            <a:normAutofit/>
          </a:bodyPr>
          <a:lstStyle/>
          <a:p>
            <a:r>
              <a:rPr lang="en-US" sz="3200" b="1" dirty="0">
                <a:solidFill>
                  <a:srgbClr val="FFFF00"/>
                </a:solidFill>
              </a:rPr>
              <a:t>THE DATABASE APPROACH</a:t>
            </a:r>
          </a:p>
        </p:txBody>
      </p:sp>
      <p:sp>
        <p:nvSpPr>
          <p:cNvPr id="4" name="TextBox 4"/>
          <p:cNvSpPr txBox="1">
            <a:spLocks noChangeArrowheads="1"/>
          </p:cNvSpPr>
          <p:nvPr/>
        </p:nvSpPr>
        <p:spPr bwMode="auto">
          <a:xfrm>
            <a:off x="184603" y="2266340"/>
            <a:ext cx="381762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4625" indent="0" algn="just">
              <a:defRPr/>
            </a:pPr>
            <a:r>
              <a:rPr lang="en-GB" altLang="en-US" sz="2400" b="1" dirty="0">
                <a:solidFill>
                  <a:schemeClr val="accent3">
                    <a:lumMod val="50000"/>
                  </a:schemeClr>
                </a:solidFill>
                <a:latin typeface="Calibri" panose="020F0502020204030204" pitchFamily="34" charset="0"/>
                <a:cs typeface="Calibri" panose="020F0502020204030204" pitchFamily="34" charset="0"/>
              </a:rPr>
              <a:t>Project-Level Model</a:t>
            </a:r>
          </a:p>
          <a:p>
            <a:pPr marL="631825" algn="just">
              <a:buFontTx/>
              <a:buChar char="-"/>
              <a:defRPr/>
            </a:pPr>
            <a:r>
              <a:rPr lang="en-GB" altLang="en-US" sz="2400" dirty="0">
                <a:latin typeface="Calibri" panose="020F0502020204030204" pitchFamily="34" charset="0"/>
                <a:cs typeface="Calibri" panose="020F0502020204030204" pitchFamily="34" charset="0"/>
              </a:rPr>
              <a:t>includes additional level of details, such as the further details of an order.</a:t>
            </a:r>
          </a:p>
        </p:txBody>
      </p:sp>
      <p:pic>
        <p:nvPicPr>
          <p:cNvPr id="3" name="Picture 2"/>
          <p:cNvPicPr>
            <a:picLocks noChangeAspect="1"/>
          </p:cNvPicPr>
          <p:nvPr/>
        </p:nvPicPr>
        <p:blipFill>
          <a:blip r:embed="rId2"/>
          <a:stretch>
            <a:fillRect/>
          </a:stretch>
        </p:blipFill>
        <p:spPr>
          <a:xfrm>
            <a:off x="4113885" y="1934534"/>
            <a:ext cx="4666452" cy="2602604"/>
          </a:xfrm>
          <a:prstGeom prst="rect">
            <a:avLst/>
          </a:prstGeom>
        </p:spPr>
      </p:pic>
    </p:spTree>
    <p:extLst>
      <p:ext uri="{BB962C8B-B14F-4D97-AF65-F5344CB8AC3E}">
        <p14:creationId xmlns:p14="http://schemas.microsoft.com/office/powerpoint/2010/main" val="908121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3200" b="1" dirty="0">
                <a:solidFill>
                  <a:srgbClr val="FFFF00"/>
                </a:solidFill>
              </a:rPr>
              <a:t>DBMS </a:t>
            </a:r>
            <a:br>
              <a:rPr lang="en-US" sz="3200" b="1" dirty="0">
                <a:solidFill>
                  <a:srgbClr val="FFFF00"/>
                </a:solidFill>
              </a:rPr>
            </a:br>
            <a:r>
              <a:rPr lang="en-US" sz="2400" b="1" dirty="0">
                <a:solidFill>
                  <a:srgbClr val="FFFF00"/>
                </a:solidFill>
              </a:rPr>
              <a:t>(Database Management System)</a:t>
            </a:r>
          </a:p>
        </p:txBody>
      </p:sp>
      <p:sp>
        <p:nvSpPr>
          <p:cNvPr id="5" name="TextBox 4"/>
          <p:cNvSpPr txBox="1">
            <a:spLocks noChangeArrowheads="1"/>
          </p:cNvSpPr>
          <p:nvPr/>
        </p:nvSpPr>
        <p:spPr bwMode="auto">
          <a:xfrm>
            <a:off x="184602" y="1502815"/>
            <a:ext cx="866313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indent="-282575" algn="just">
              <a:buFont typeface="Wingdings" panose="05000000000000000000" pitchFamily="2" charset="2"/>
              <a:buChar char="§"/>
              <a:defRPr/>
            </a:pPr>
            <a:r>
              <a:rPr lang="en-GB" altLang="en-US" sz="2400" dirty="0">
                <a:latin typeface="Calibri" panose="020F0502020204030204" pitchFamily="34" charset="0"/>
                <a:cs typeface="Calibri" panose="020F0502020204030204" pitchFamily="34" charset="0"/>
              </a:rPr>
              <a:t>is a software system that enables the use of a database approach.</a:t>
            </a:r>
          </a:p>
          <a:p>
            <a:pPr indent="-282575" algn="just">
              <a:buFont typeface="Wingdings" panose="05000000000000000000" pitchFamily="2" charset="2"/>
              <a:buChar char="§"/>
              <a:defRPr/>
            </a:pPr>
            <a:r>
              <a:rPr lang="en-GB" altLang="en-US" sz="2400" dirty="0">
                <a:latin typeface="Calibri" panose="020F0502020204030204" pitchFamily="34" charset="0"/>
                <a:cs typeface="Calibri" panose="020F0502020204030204" pitchFamily="34" charset="0"/>
              </a:rPr>
              <a:t>Its primary purpose is to provide a systematic method of creating, updating, storing, and retrieving the data stored in a database.</a:t>
            </a:r>
          </a:p>
          <a:p>
            <a:pPr indent="-282575" algn="just">
              <a:buFont typeface="Wingdings" panose="05000000000000000000" pitchFamily="2" charset="2"/>
              <a:buChar char="§"/>
              <a:defRPr/>
            </a:pPr>
            <a:r>
              <a:rPr lang="en-GB" altLang="en-US" sz="2400" dirty="0">
                <a:latin typeface="Calibri" panose="020F0502020204030204" pitchFamily="34" charset="0"/>
                <a:cs typeface="Calibri" panose="020F0502020204030204" pitchFamily="34" charset="0"/>
              </a:rPr>
              <a:t>provides facilities for controlling data access, enforcing data integrity, managing concurrency control, and restoring a database.</a:t>
            </a:r>
          </a:p>
        </p:txBody>
      </p:sp>
    </p:spTree>
    <p:extLst>
      <p:ext uri="{BB962C8B-B14F-4D97-AF65-F5344CB8AC3E}">
        <p14:creationId xmlns:p14="http://schemas.microsoft.com/office/powerpoint/2010/main" val="1929468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Advantages of </a:t>
            </a:r>
            <a:br>
              <a:rPr lang="en-US" sz="2800" b="1" dirty="0">
                <a:solidFill>
                  <a:srgbClr val="FFFF00"/>
                </a:solidFill>
              </a:rPr>
            </a:br>
            <a:r>
              <a:rPr lang="en-US" sz="2800" b="1" dirty="0">
                <a:solidFill>
                  <a:srgbClr val="FFFF00"/>
                </a:solidFill>
              </a:rPr>
              <a:t>Database Approach:</a:t>
            </a:r>
            <a:endParaRPr lang="en-US" sz="2000" b="1" dirty="0">
              <a:solidFill>
                <a:srgbClr val="FFFF00"/>
              </a:solidFill>
            </a:endParaRPr>
          </a:p>
        </p:txBody>
      </p:sp>
      <p:sp>
        <p:nvSpPr>
          <p:cNvPr id="5" name="TextBox 4"/>
          <p:cNvSpPr txBox="1">
            <a:spLocks noChangeArrowheads="1"/>
          </p:cNvSpPr>
          <p:nvPr/>
        </p:nvSpPr>
        <p:spPr bwMode="auto">
          <a:xfrm>
            <a:off x="143555" y="1334896"/>
            <a:ext cx="8663137"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Program-Data Independence</a:t>
            </a:r>
          </a:p>
          <a:p>
            <a:pPr marL="0" indent="0" algn="just">
              <a:defRPr/>
            </a:pPr>
            <a:r>
              <a:rPr lang="en-GB" altLang="en-US" sz="2000" dirty="0">
                <a:solidFill>
                  <a:srgbClr val="FF0000"/>
                </a:solidFill>
                <a:latin typeface="Calibri" panose="020F0502020204030204" pitchFamily="34" charset="0"/>
                <a:cs typeface="Calibri" panose="020F0502020204030204" pitchFamily="34" charset="0"/>
              </a:rPr>
              <a:t>Data Independence </a:t>
            </a:r>
            <a:r>
              <a:rPr lang="en-GB" altLang="en-US" sz="2000" dirty="0">
                <a:latin typeface="Calibri" panose="020F0502020204030204" pitchFamily="34" charset="0"/>
                <a:cs typeface="Calibri" panose="020F0502020204030204" pitchFamily="34" charset="0"/>
              </a:rPr>
              <a:t>- separation of data descriptions (metadata) from the application programs that use the data.</a:t>
            </a:r>
          </a:p>
          <a:p>
            <a:pPr marL="0" indent="0" algn="just">
              <a:defRPr/>
            </a:pPr>
            <a:r>
              <a:rPr lang="en-GB" altLang="en-US" sz="2000" dirty="0">
                <a:solidFill>
                  <a:srgbClr val="FF0000"/>
                </a:solidFill>
                <a:latin typeface="Calibri" panose="020F0502020204030204" pitchFamily="34" charset="0"/>
                <a:cs typeface="Calibri" panose="020F0502020204030204" pitchFamily="34" charset="0"/>
              </a:rPr>
              <a:t>Repository</a:t>
            </a:r>
            <a:r>
              <a:rPr lang="en-GB" altLang="en-US" sz="2000" dirty="0">
                <a:latin typeface="Calibri" panose="020F0502020204030204" pitchFamily="34" charset="0"/>
                <a:cs typeface="Calibri" panose="020F0502020204030204" pitchFamily="34" charset="0"/>
              </a:rPr>
              <a:t> – a central location where data descriptions are stored.</a:t>
            </a:r>
          </a:p>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Planned Data Redundancy</a:t>
            </a:r>
          </a:p>
          <a:p>
            <a:pPr marL="0" indent="0" algn="just">
              <a:defRPr/>
            </a:pPr>
            <a:r>
              <a:rPr lang="en-GB" altLang="en-US" sz="2000" dirty="0">
                <a:latin typeface="Calibri" panose="020F0502020204030204" pitchFamily="34" charset="0"/>
                <a:cs typeface="Calibri" panose="020F0502020204030204" pitchFamily="34" charset="0"/>
              </a:rPr>
              <a:t>Good database design attempts to integrate previously data files into a single, logical structure. Example: </a:t>
            </a:r>
            <a:r>
              <a:rPr lang="en-GB" altLang="en-US" sz="2000" dirty="0" err="1">
                <a:latin typeface="Calibri" panose="020F0502020204030204" pitchFamily="34" charset="0"/>
                <a:cs typeface="Calibri" panose="020F0502020204030204" pitchFamily="34" charset="0"/>
              </a:rPr>
              <a:t>Product_tbl</a:t>
            </a:r>
            <a:r>
              <a:rPr lang="en-GB" altLang="en-US" sz="2000" dirty="0">
                <a:latin typeface="Calibri" panose="020F0502020204030204" pitchFamily="34" charset="0"/>
                <a:cs typeface="Calibri" panose="020F0502020204030204" pitchFamily="34" charset="0"/>
              </a:rPr>
              <a:t> (name, price, etc.)</a:t>
            </a:r>
          </a:p>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Improved Data Consistency</a:t>
            </a:r>
          </a:p>
          <a:p>
            <a:pPr marL="0" indent="0" algn="just">
              <a:defRPr/>
            </a:pPr>
            <a:r>
              <a:rPr lang="en-GB" altLang="en-US" sz="2000" dirty="0">
                <a:latin typeface="Calibri" panose="020F0502020204030204" pitchFamily="34" charset="0"/>
                <a:cs typeface="Calibri" panose="020F0502020204030204" pitchFamily="34" charset="0"/>
              </a:rPr>
              <a:t>By eliminating or controlling data redundancy, we greatly reduce the opportunities for inconsistency. Example: customer’s address is stored only once</a:t>
            </a:r>
          </a:p>
          <a:p>
            <a:pPr marL="174625" indent="0" algn="just">
              <a:defRPr/>
            </a:pPr>
            <a:endParaRPr lang="en-GB"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731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Advantages of </a:t>
            </a:r>
            <a:br>
              <a:rPr lang="en-US" sz="2800" b="1" dirty="0">
                <a:solidFill>
                  <a:srgbClr val="FFFF00"/>
                </a:solidFill>
              </a:rPr>
            </a:br>
            <a:r>
              <a:rPr lang="en-US" sz="2800" b="1" dirty="0">
                <a:solidFill>
                  <a:srgbClr val="FFFF00"/>
                </a:solidFill>
              </a:rPr>
              <a:t>Database Approach:</a:t>
            </a:r>
            <a:endParaRPr lang="en-US" sz="2000" b="1" dirty="0">
              <a:solidFill>
                <a:srgbClr val="FFFF00"/>
              </a:solidFill>
            </a:endParaRPr>
          </a:p>
        </p:txBody>
      </p:sp>
      <p:sp>
        <p:nvSpPr>
          <p:cNvPr id="5" name="TextBox 4"/>
          <p:cNvSpPr txBox="1">
            <a:spLocks noChangeArrowheads="1"/>
          </p:cNvSpPr>
          <p:nvPr/>
        </p:nvSpPr>
        <p:spPr bwMode="auto">
          <a:xfrm>
            <a:off x="143555" y="1334896"/>
            <a:ext cx="8663137"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Improved Data Sharing</a:t>
            </a:r>
          </a:p>
          <a:p>
            <a:pPr marL="0" indent="0" algn="just">
              <a:defRPr/>
            </a:pPr>
            <a:r>
              <a:rPr lang="en-GB" altLang="en-US" sz="2000" dirty="0">
                <a:latin typeface="Calibri" panose="020F0502020204030204" pitchFamily="34" charset="0"/>
                <a:cs typeface="Calibri" panose="020F0502020204030204" pitchFamily="34" charset="0"/>
              </a:rPr>
              <a:t>Users are granted permission to use the database, and each user is provided one or more user views into the database to facilitate this use. </a:t>
            </a:r>
            <a:r>
              <a:rPr lang="en-GB" altLang="en-US" sz="2000" dirty="0">
                <a:solidFill>
                  <a:srgbClr val="FF0000"/>
                </a:solidFill>
                <a:latin typeface="Calibri" panose="020F0502020204030204" pitchFamily="34" charset="0"/>
                <a:cs typeface="Calibri" panose="020F0502020204030204" pitchFamily="34" charset="0"/>
              </a:rPr>
              <a:t>User view </a:t>
            </a:r>
            <a:r>
              <a:rPr lang="en-GB" altLang="en-US" sz="2000" dirty="0">
                <a:latin typeface="Calibri" panose="020F0502020204030204" pitchFamily="34" charset="0"/>
                <a:cs typeface="Calibri" panose="020F0502020204030204" pitchFamily="34" charset="0"/>
              </a:rPr>
              <a:t>is logical description of some portion of the database that is required by a user to perform some task. Example: HR staff needs access to confidential data; customer needs access to product </a:t>
            </a:r>
            <a:r>
              <a:rPr lang="en-GB" altLang="en-US" sz="2000" dirty="0" err="1">
                <a:latin typeface="Calibri" panose="020F0502020204030204" pitchFamily="34" charset="0"/>
                <a:cs typeface="Calibri" panose="020F0502020204030204" pitchFamily="34" charset="0"/>
              </a:rPr>
              <a:t>catalog</a:t>
            </a:r>
            <a:endParaRPr lang="en-GB" altLang="en-US" sz="2000" dirty="0">
              <a:latin typeface="Calibri" panose="020F0502020204030204" pitchFamily="34" charset="0"/>
              <a:cs typeface="Calibri" panose="020F0502020204030204" pitchFamily="34" charset="0"/>
            </a:endParaRPr>
          </a:p>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Increased Productivity of Application Development </a:t>
            </a:r>
          </a:p>
          <a:p>
            <a:pPr marL="0" indent="0" algn="just">
              <a:defRPr/>
            </a:pPr>
            <a:r>
              <a:rPr lang="en-GB" altLang="en-US" sz="2000" dirty="0">
                <a:latin typeface="Calibri" panose="020F0502020204030204" pitchFamily="34" charset="0"/>
                <a:cs typeface="Calibri" panose="020F0502020204030204" pitchFamily="34" charset="0"/>
              </a:rPr>
              <a:t>A major advantage of the database approach is that it greatly reduces the cost and time for developing new business applications.</a:t>
            </a:r>
          </a:p>
        </p:txBody>
      </p:sp>
    </p:spTree>
    <p:extLst>
      <p:ext uri="{BB962C8B-B14F-4D97-AF65-F5344CB8AC3E}">
        <p14:creationId xmlns:p14="http://schemas.microsoft.com/office/powerpoint/2010/main" val="4206699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Advantages of </a:t>
            </a:r>
            <a:br>
              <a:rPr lang="en-US" sz="2800" b="1" dirty="0">
                <a:solidFill>
                  <a:srgbClr val="FFFF00"/>
                </a:solidFill>
              </a:rPr>
            </a:br>
            <a:r>
              <a:rPr lang="en-US" sz="2800" b="1" dirty="0">
                <a:solidFill>
                  <a:srgbClr val="FFFF00"/>
                </a:solidFill>
              </a:rPr>
              <a:t>Database Approach:</a:t>
            </a:r>
            <a:endParaRPr lang="en-US" sz="2000" b="1" dirty="0">
              <a:solidFill>
                <a:srgbClr val="FFFF00"/>
              </a:solidFill>
            </a:endParaRPr>
          </a:p>
        </p:txBody>
      </p:sp>
      <p:sp>
        <p:nvSpPr>
          <p:cNvPr id="5" name="TextBox 4"/>
          <p:cNvSpPr txBox="1">
            <a:spLocks noChangeArrowheads="1"/>
          </p:cNvSpPr>
          <p:nvPr/>
        </p:nvSpPr>
        <p:spPr bwMode="auto">
          <a:xfrm>
            <a:off x="143555" y="1334896"/>
            <a:ext cx="866313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Enforcement of standards</a:t>
            </a:r>
          </a:p>
          <a:p>
            <a:pPr marL="0" indent="0" algn="just">
              <a:defRPr/>
            </a:pPr>
            <a:r>
              <a:rPr lang="en-GB" altLang="en-US" sz="2000" dirty="0">
                <a:latin typeface="Calibri" panose="020F0502020204030204" pitchFamily="34" charset="0"/>
                <a:cs typeface="Calibri" panose="020F0502020204030204" pitchFamily="34" charset="0"/>
              </a:rPr>
              <a:t>When the database approach is implemented with full management support, the database administration function should be granted </a:t>
            </a:r>
            <a:r>
              <a:rPr lang="en-GB" altLang="en-US" sz="2000" dirty="0" err="1">
                <a:latin typeface="Calibri" panose="020F0502020204030204" pitchFamily="34" charset="0"/>
                <a:cs typeface="Calibri" panose="020F0502020204030204" pitchFamily="34" charset="0"/>
              </a:rPr>
              <a:t>singlepoint</a:t>
            </a:r>
            <a:r>
              <a:rPr lang="en-GB" altLang="en-US" sz="2000" dirty="0">
                <a:latin typeface="Calibri" panose="020F0502020204030204" pitchFamily="34" charset="0"/>
                <a:cs typeface="Calibri" panose="020F0502020204030204" pitchFamily="34" charset="0"/>
              </a:rPr>
              <a:t> authority and responsibility for establishing and enforcing data standards.</a:t>
            </a:r>
          </a:p>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Improved Data Quality</a:t>
            </a:r>
          </a:p>
          <a:p>
            <a:pPr marL="0" indent="0" algn="just">
              <a:defRPr/>
            </a:pPr>
            <a:r>
              <a:rPr lang="en-GB" altLang="en-US" sz="2000" dirty="0">
                <a:solidFill>
                  <a:srgbClr val="FF0000"/>
                </a:solidFill>
                <a:latin typeface="Calibri" panose="020F0502020204030204" pitchFamily="34" charset="0"/>
                <a:cs typeface="Calibri" panose="020F0502020204030204" pitchFamily="34" charset="0"/>
              </a:rPr>
              <a:t>Constraint</a:t>
            </a:r>
            <a:r>
              <a:rPr lang="en-GB" altLang="en-US" sz="2000" dirty="0">
                <a:latin typeface="Calibri" panose="020F0502020204030204" pitchFamily="34" charset="0"/>
                <a:cs typeface="Calibri" panose="020F0502020204030204" pitchFamily="34" charset="0"/>
              </a:rPr>
              <a:t> - is a rule that cannot be violated by database users. </a:t>
            </a:r>
          </a:p>
          <a:p>
            <a:pPr marL="271463" indent="-27146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Improved Data Accessibility and Responsiveness</a:t>
            </a:r>
          </a:p>
          <a:p>
            <a:pPr marL="271463" indent="-27146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Reduced Program Maintenance</a:t>
            </a:r>
          </a:p>
          <a:p>
            <a:pPr marL="271463" indent="-27146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Improved Decision Support</a:t>
            </a:r>
          </a:p>
          <a:p>
            <a:pPr marL="0" indent="0" algn="just">
              <a:defRPr/>
            </a:pPr>
            <a:r>
              <a:rPr lang="en-GB" altLang="en-US" sz="2000" dirty="0">
                <a:latin typeface="Calibri" panose="020F0502020204030204" pitchFamily="34" charset="0"/>
                <a:cs typeface="Calibri" panose="020F0502020204030204" pitchFamily="34" charset="0"/>
              </a:rPr>
              <a:t>Databases are designed expressly for decision support applications. Example: database to support customer relationship management, financial analysis, etc.</a:t>
            </a:r>
          </a:p>
        </p:txBody>
      </p:sp>
    </p:spTree>
    <p:extLst>
      <p:ext uri="{BB962C8B-B14F-4D97-AF65-F5344CB8AC3E}">
        <p14:creationId xmlns:p14="http://schemas.microsoft.com/office/powerpoint/2010/main" val="3055395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260" y="-11772"/>
            <a:ext cx="6413610" cy="610819"/>
          </a:xfrm>
        </p:spPr>
        <p:txBody>
          <a:bodyPr>
            <a:noAutofit/>
          </a:bodyPr>
          <a:lstStyle/>
          <a:p>
            <a:r>
              <a:rPr lang="en-US" sz="2400" b="1" dirty="0">
                <a:solidFill>
                  <a:srgbClr val="FFFF00"/>
                </a:solidFill>
              </a:rPr>
              <a:t>Advantages of Database Approach:</a:t>
            </a:r>
          </a:p>
        </p:txBody>
      </p:sp>
      <p:sp>
        <p:nvSpPr>
          <p:cNvPr id="5" name="Content Placeholder 4"/>
          <p:cNvSpPr>
            <a:spLocks noGrp="1"/>
          </p:cNvSpPr>
          <p:nvPr>
            <p:ph idx="1"/>
          </p:nvPr>
        </p:nvSpPr>
        <p:spPr>
          <a:xfrm>
            <a:off x="296260" y="599047"/>
            <a:ext cx="6871725" cy="3511061"/>
          </a:xfrm>
        </p:spPr>
        <p:txBody>
          <a:bodyPr>
            <a:noAutofit/>
          </a:bodyPr>
          <a:lstStyle/>
          <a:p>
            <a:r>
              <a:rPr lang="en-GB" sz="2400" dirty="0"/>
              <a:t>Program-data independence</a:t>
            </a:r>
          </a:p>
          <a:p>
            <a:r>
              <a:rPr lang="en-GB" sz="2400" dirty="0"/>
              <a:t>Planned data redundancy</a:t>
            </a:r>
          </a:p>
          <a:p>
            <a:r>
              <a:rPr lang="en-GB" sz="2400" dirty="0"/>
              <a:t>Improved data consistency</a:t>
            </a:r>
          </a:p>
          <a:p>
            <a:r>
              <a:rPr lang="en-GB" sz="2400" dirty="0"/>
              <a:t>Improved data sharing</a:t>
            </a:r>
          </a:p>
          <a:p>
            <a:r>
              <a:rPr lang="en-GB" sz="2400" dirty="0"/>
              <a:t>Increased productivity of application development</a:t>
            </a:r>
          </a:p>
          <a:p>
            <a:r>
              <a:rPr lang="en-GB" sz="2400" dirty="0"/>
              <a:t>Enforcement of standards</a:t>
            </a:r>
          </a:p>
          <a:p>
            <a:r>
              <a:rPr lang="en-GB" sz="2400" dirty="0"/>
              <a:t>Improved data quality</a:t>
            </a:r>
          </a:p>
          <a:p>
            <a:r>
              <a:rPr lang="en-GB" sz="2400" dirty="0"/>
              <a:t>Improved data accessibility and responsiveness</a:t>
            </a:r>
          </a:p>
          <a:p>
            <a:r>
              <a:rPr lang="en-GB" sz="2400" dirty="0"/>
              <a:t>Reduced program maintenance</a:t>
            </a:r>
          </a:p>
          <a:p>
            <a:r>
              <a:rPr lang="en-GB" sz="2400" dirty="0"/>
              <a:t>Improved decision support</a:t>
            </a:r>
          </a:p>
        </p:txBody>
      </p:sp>
    </p:spTree>
    <p:extLst>
      <p:ext uri="{BB962C8B-B14F-4D97-AF65-F5344CB8AC3E}">
        <p14:creationId xmlns:p14="http://schemas.microsoft.com/office/powerpoint/2010/main" val="107603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Cost and Risk of</a:t>
            </a:r>
            <a:br>
              <a:rPr lang="en-US" sz="2800" b="1" dirty="0">
                <a:solidFill>
                  <a:srgbClr val="FFFF00"/>
                </a:solidFill>
              </a:rPr>
            </a:br>
            <a:r>
              <a:rPr lang="en-US" sz="2800" b="1" dirty="0">
                <a:solidFill>
                  <a:srgbClr val="FFFF00"/>
                </a:solidFill>
              </a:rPr>
              <a:t>Database Approach:</a:t>
            </a:r>
            <a:endParaRPr lang="en-US" sz="2000" b="1" dirty="0">
              <a:solidFill>
                <a:srgbClr val="FFFF00"/>
              </a:solidFill>
            </a:endParaRPr>
          </a:p>
        </p:txBody>
      </p:sp>
      <p:sp>
        <p:nvSpPr>
          <p:cNvPr id="5" name="TextBox 4"/>
          <p:cNvSpPr txBox="1">
            <a:spLocks noChangeArrowheads="1"/>
          </p:cNvSpPr>
          <p:nvPr/>
        </p:nvSpPr>
        <p:spPr bwMode="auto">
          <a:xfrm>
            <a:off x="143555" y="1334896"/>
            <a:ext cx="8663137"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New, specialized personnel</a:t>
            </a:r>
          </a:p>
          <a:p>
            <a:pPr marL="0" indent="0" algn="just">
              <a:defRPr/>
            </a:pPr>
            <a:r>
              <a:rPr lang="en-GB" altLang="en-US" sz="2200" dirty="0">
                <a:latin typeface="Calibri" panose="020F0502020204030204" pitchFamily="34" charset="0"/>
                <a:cs typeface="Calibri" panose="020F0502020204030204" pitchFamily="34" charset="0"/>
              </a:rPr>
              <a:t>Organizations that adopt the database approach need to hire or train individuals to design and implement databases, provide database administration services, and manage a staff of new people. </a:t>
            </a:r>
          </a:p>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Installation and Management Cost and Complexity</a:t>
            </a:r>
          </a:p>
          <a:p>
            <a:pPr marL="0" indent="0" algn="just">
              <a:defRPr/>
            </a:pPr>
            <a:r>
              <a:rPr lang="en-GB" altLang="en-US" sz="2200" dirty="0">
                <a:latin typeface="Calibri" panose="020F0502020204030204" pitchFamily="34" charset="0"/>
                <a:cs typeface="Calibri" panose="020F0502020204030204" pitchFamily="34" charset="0"/>
              </a:rPr>
              <a:t>Installing a system may require upgrades to the hardware , data communications systems and substantial training to keep up with new upgrades.</a:t>
            </a:r>
          </a:p>
          <a:p>
            <a:pPr marL="271463" indent="-27146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Conversion Cost </a:t>
            </a:r>
          </a:p>
          <a:p>
            <a:pPr marL="0" indent="0" algn="just">
              <a:defRPr/>
            </a:pPr>
            <a:r>
              <a:rPr lang="en-GB" altLang="en-US" sz="2200" dirty="0">
                <a:solidFill>
                  <a:srgbClr val="FF0000"/>
                </a:solidFill>
                <a:latin typeface="Calibri" panose="020F0502020204030204" pitchFamily="34" charset="0"/>
                <a:cs typeface="Calibri" panose="020F0502020204030204" pitchFamily="34" charset="0"/>
              </a:rPr>
              <a:t>Legacy system </a:t>
            </a:r>
            <a:r>
              <a:rPr lang="en-GB" altLang="en-US" sz="2200" dirty="0">
                <a:latin typeface="Calibri" panose="020F0502020204030204" pitchFamily="34" charset="0"/>
                <a:cs typeface="Calibri" panose="020F0502020204030204" pitchFamily="34" charset="0"/>
              </a:rPr>
              <a:t>- refer to older applications in an organization that are based on file processing and/or older database technology.</a:t>
            </a:r>
          </a:p>
        </p:txBody>
      </p:sp>
    </p:spTree>
    <p:extLst>
      <p:ext uri="{BB962C8B-B14F-4D97-AF65-F5344CB8AC3E}">
        <p14:creationId xmlns:p14="http://schemas.microsoft.com/office/powerpoint/2010/main" val="1728885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Cost and Risk of</a:t>
            </a:r>
            <a:br>
              <a:rPr lang="en-US" sz="2800" b="1" dirty="0">
                <a:solidFill>
                  <a:srgbClr val="FFFF00"/>
                </a:solidFill>
              </a:rPr>
            </a:br>
            <a:r>
              <a:rPr lang="en-US" sz="2800" b="1" dirty="0">
                <a:solidFill>
                  <a:srgbClr val="FFFF00"/>
                </a:solidFill>
              </a:rPr>
              <a:t>Database Approach:</a:t>
            </a:r>
            <a:endParaRPr lang="en-US" sz="2000" b="1" dirty="0">
              <a:solidFill>
                <a:srgbClr val="FFFF00"/>
              </a:solidFill>
            </a:endParaRPr>
          </a:p>
        </p:txBody>
      </p:sp>
      <p:sp>
        <p:nvSpPr>
          <p:cNvPr id="5" name="TextBox 4"/>
          <p:cNvSpPr txBox="1">
            <a:spLocks noChangeArrowheads="1"/>
          </p:cNvSpPr>
          <p:nvPr/>
        </p:nvSpPr>
        <p:spPr bwMode="auto">
          <a:xfrm>
            <a:off x="143555" y="1334896"/>
            <a:ext cx="8663137"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Need to explicit back-up and recovery</a:t>
            </a:r>
          </a:p>
          <a:p>
            <a:pPr marL="0" indent="0"/>
            <a:r>
              <a:rPr lang="en-GB" sz="2200" dirty="0">
                <a:latin typeface="Calibri" panose="020F0502020204030204" pitchFamily="34" charset="0"/>
                <a:cs typeface="Calibri" panose="020F0502020204030204" pitchFamily="34" charset="0"/>
              </a:rPr>
              <a:t>Database requires that comprehensive procedures be developed and used for providing backup copies of data and for restoring a database </a:t>
            </a:r>
            <a:r>
              <a:rPr lang="en-PH" sz="2200" dirty="0">
                <a:latin typeface="Calibri" panose="020F0502020204030204" pitchFamily="34" charset="0"/>
                <a:cs typeface="Calibri" panose="020F0502020204030204" pitchFamily="34" charset="0"/>
              </a:rPr>
              <a:t>when damage occurs.</a:t>
            </a:r>
          </a:p>
          <a:p>
            <a:pPr marL="265113" indent="-265113">
              <a:buFont typeface="Wingdings" panose="05000000000000000000" pitchFamily="2" charset="2"/>
              <a:buChar char="§"/>
            </a:pPr>
            <a:r>
              <a:rPr lang="en-GB" altLang="en-US" sz="2400" b="1" u="sng" dirty="0">
                <a:latin typeface="Calibri" panose="020F0502020204030204" pitchFamily="34" charset="0"/>
                <a:cs typeface="Calibri" panose="020F0502020204030204" pitchFamily="34" charset="0"/>
              </a:rPr>
              <a:t>Organizational Conflict</a:t>
            </a:r>
          </a:p>
          <a:p>
            <a:pPr marL="0" indent="0" algn="just">
              <a:defRPr/>
            </a:pPr>
            <a:r>
              <a:rPr lang="en-GB" altLang="en-US" sz="2200" dirty="0">
                <a:latin typeface="Calibri" panose="020F0502020204030204" pitchFamily="34" charset="0"/>
                <a:cs typeface="Calibri" panose="020F0502020204030204" pitchFamily="34" charset="0"/>
              </a:rPr>
              <a:t>Database requires a consensus on data definitions and ownership, as well as responsibilities for accurate data maintenance.</a:t>
            </a:r>
          </a:p>
        </p:txBody>
      </p:sp>
    </p:spTree>
    <p:extLst>
      <p:ext uri="{BB962C8B-B14F-4D97-AF65-F5344CB8AC3E}">
        <p14:creationId xmlns:p14="http://schemas.microsoft.com/office/powerpoint/2010/main" val="3992000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260" y="425043"/>
            <a:ext cx="6413610" cy="610819"/>
          </a:xfrm>
        </p:spPr>
        <p:txBody>
          <a:bodyPr>
            <a:noAutofit/>
          </a:bodyPr>
          <a:lstStyle/>
          <a:p>
            <a:r>
              <a:rPr lang="en-US" sz="2400" b="1" dirty="0">
                <a:solidFill>
                  <a:srgbClr val="FFFF00"/>
                </a:solidFill>
              </a:rPr>
              <a:t>Cost and </a:t>
            </a:r>
            <a:r>
              <a:rPr lang="en-US" sz="2400" b="1">
                <a:solidFill>
                  <a:srgbClr val="FFFF00"/>
                </a:solidFill>
              </a:rPr>
              <a:t>Risk of Database </a:t>
            </a:r>
            <a:r>
              <a:rPr lang="en-US" sz="2400" b="1" dirty="0">
                <a:solidFill>
                  <a:srgbClr val="FFFF00"/>
                </a:solidFill>
              </a:rPr>
              <a:t>Approach:</a:t>
            </a:r>
          </a:p>
        </p:txBody>
      </p:sp>
      <p:sp>
        <p:nvSpPr>
          <p:cNvPr id="5" name="Content Placeholder 4"/>
          <p:cNvSpPr>
            <a:spLocks noGrp="1"/>
          </p:cNvSpPr>
          <p:nvPr>
            <p:ph idx="1"/>
          </p:nvPr>
        </p:nvSpPr>
        <p:spPr>
          <a:xfrm>
            <a:off x="296260" y="1044700"/>
            <a:ext cx="6871725" cy="2430818"/>
          </a:xfrm>
        </p:spPr>
        <p:txBody>
          <a:bodyPr>
            <a:noAutofit/>
          </a:bodyPr>
          <a:lstStyle/>
          <a:p>
            <a:r>
              <a:rPr lang="en-GB" sz="2400" dirty="0"/>
              <a:t>New, Specialized Personnel</a:t>
            </a:r>
          </a:p>
          <a:p>
            <a:r>
              <a:rPr lang="en-GB" sz="2400" dirty="0"/>
              <a:t>Installation and Management Cost and Complexity</a:t>
            </a:r>
          </a:p>
          <a:p>
            <a:r>
              <a:rPr lang="en-GB" sz="2400" dirty="0"/>
              <a:t>Conversion Cost</a:t>
            </a:r>
          </a:p>
          <a:p>
            <a:r>
              <a:rPr lang="en-GB" sz="2400" dirty="0"/>
              <a:t>Need for Explicit Back-up and Recovery</a:t>
            </a:r>
          </a:p>
          <a:p>
            <a:r>
              <a:rPr lang="en-GB" sz="2400" dirty="0"/>
              <a:t>Organizational Conflict</a:t>
            </a:r>
          </a:p>
        </p:txBody>
      </p:sp>
    </p:spTree>
    <p:extLst>
      <p:ext uri="{BB962C8B-B14F-4D97-AF65-F5344CB8AC3E}">
        <p14:creationId xmlns:p14="http://schemas.microsoft.com/office/powerpoint/2010/main" val="190567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Components of Database</a:t>
            </a:r>
            <a:br>
              <a:rPr lang="en-US" sz="2800" b="1" dirty="0">
                <a:solidFill>
                  <a:srgbClr val="FFFF00"/>
                </a:solidFill>
              </a:rPr>
            </a:br>
            <a:r>
              <a:rPr lang="en-US" sz="2800" b="1" dirty="0">
                <a:solidFill>
                  <a:srgbClr val="FFFF00"/>
                </a:solidFill>
              </a:rPr>
              <a:t>Environment:</a:t>
            </a:r>
            <a:endParaRPr lang="en-US" sz="2000" b="1" dirty="0">
              <a:solidFill>
                <a:srgbClr val="FFFF00"/>
              </a:solidFill>
            </a:endParaRPr>
          </a:p>
        </p:txBody>
      </p:sp>
      <p:sp>
        <p:nvSpPr>
          <p:cNvPr id="5" name="TextBox 4"/>
          <p:cNvSpPr txBox="1">
            <a:spLocks noChangeArrowheads="1"/>
          </p:cNvSpPr>
          <p:nvPr/>
        </p:nvSpPr>
        <p:spPr bwMode="auto">
          <a:xfrm>
            <a:off x="143555" y="1334896"/>
            <a:ext cx="8663137"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Computer-aided Software Engineering (CASE) tools</a:t>
            </a:r>
          </a:p>
          <a:p>
            <a:pPr marL="342900" indent="-342900" algn="just">
              <a:buFontTx/>
              <a:buChar char="-"/>
            </a:pPr>
            <a:r>
              <a:rPr lang="en-GB" sz="2200" dirty="0">
                <a:latin typeface="Calibri" panose="020F0502020204030204" pitchFamily="34" charset="0"/>
                <a:cs typeface="Calibri" panose="020F0502020204030204" pitchFamily="34" charset="0"/>
              </a:rPr>
              <a:t>tools used to design databases and application programs</a:t>
            </a:r>
          </a:p>
          <a:p>
            <a:pPr marL="342900" indent="-342900" algn="just">
              <a:buFontTx/>
              <a:buChar char="-"/>
            </a:pPr>
            <a:r>
              <a:rPr lang="en-GB" sz="2200" dirty="0">
                <a:latin typeface="Calibri" panose="020F0502020204030204" pitchFamily="34" charset="0"/>
                <a:cs typeface="Calibri" panose="020F0502020204030204" pitchFamily="34" charset="0"/>
              </a:rPr>
              <a:t>helps with creation of data models or generate codes needed to create database</a:t>
            </a:r>
          </a:p>
          <a:p>
            <a:pPr marL="342900" indent="-342900" algn="just">
              <a:buFontTx/>
              <a:buChar char="-"/>
            </a:pPr>
            <a:r>
              <a:rPr lang="en-GB" sz="2200" dirty="0">
                <a:latin typeface="Calibri" panose="020F0502020204030204" pitchFamily="34" charset="0"/>
                <a:cs typeface="Calibri" panose="020F0502020204030204" pitchFamily="34" charset="0"/>
              </a:rPr>
              <a:t>Example: Visible Analyst and Microsoft Visio – draw and modify diagrams</a:t>
            </a:r>
          </a:p>
          <a:p>
            <a:pPr marL="265113" indent="-265113" algn="just">
              <a:buFont typeface="Wingdings" panose="05000000000000000000" pitchFamily="2" charset="2"/>
              <a:buChar char="§"/>
            </a:pPr>
            <a:r>
              <a:rPr lang="en-GB" sz="2400" b="1" u="sng" dirty="0">
                <a:latin typeface="Calibri" panose="020F0502020204030204" pitchFamily="34" charset="0"/>
                <a:cs typeface="Calibri" panose="020F0502020204030204" pitchFamily="34" charset="0"/>
              </a:rPr>
              <a:t>Repository</a:t>
            </a:r>
          </a:p>
          <a:p>
            <a:pPr marL="342900" indent="-342900" algn="just">
              <a:buFontTx/>
              <a:buChar char="-"/>
            </a:pPr>
            <a:r>
              <a:rPr lang="en-GB" sz="2200" dirty="0">
                <a:latin typeface="Calibri" panose="020F0502020204030204" pitchFamily="34" charset="0"/>
                <a:cs typeface="Calibri" panose="020F0502020204030204" pitchFamily="34" charset="0"/>
              </a:rPr>
              <a:t>a centralized knowledge base for all data definitions, data relationships, screen and report formats, and other system components.</a:t>
            </a:r>
          </a:p>
          <a:p>
            <a:pPr marL="342900" indent="-342900" algn="just">
              <a:buFontTx/>
              <a:buChar char="-"/>
            </a:pPr>
            <a:r>
              <a:rPr lang="en-GB" sz="2200" dirty="0">
                <a:latin typeface="Calibri" panose="020F0502020204030204" pitchFamily="34" charset="0"/>
                <a:cs typeface="Calibri" panose="020F0502020204030204" pitchFamily="34" charset="0"/>
              </a:rPr>
              <a:t>Contains extended set of metadata important of managing databases and other components of information system.</a:t>
            </a:r>
          </a:p>
        </p:txBody>
      </p:sp>
    </p:spTree>
    <p:extLst>
      <p:ext uri="{BB962C8B-B14F-4D97-AF65-F5344CB8AC3E}">
        <p14:creationId xmlns:p14="http://schemas.microsoft.com/office/powerpoint/2010/main" val="425181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Components of Database</a:t>
            </a:r>
            <a:br>
              <a:rPr lang="en-US" sz="2800" b="1" dirty="0">
                <a:solidFill>
                  <a:srgbClr val="FFFF00"/>
                </a:solidFill>
              </a:rPr>
            </a:br>
            <a:r>
              <a:rPr lang="en-US" sz="2800" b="1" dirty="0">
                <a:solidFill>
                  <a:srgbClr val="FFFF00"/>
                </a:solidFill>
              </a:rPr>
              <a:t>Environment:</a:t>
            </a:r>
            <a:endParaRPr lang="en-US" sz="2000" b="1" dirty="0">
              <a:solidFill>
                <a:srgbClr val="FFFF00"/>
              </a:solidFill>
            </a:endParaRPr>
          </a:p>
        </p:txBody>
      </p:sp>
      <p:sp>
        <p:nvSpPr>
          <p:cNvPr id="5" name="TextBox 4"/>
          <p:cNvSpPr txBox="1">
            <a:spLocks noChangeArrowheads="1"/>
          </p:cNvSpPr>
          <p:nvPr/>
        </p:nvSpPr>
        <p:spPr bwMode="auto">
          <a:xfrm>
            <a:off x="143555" y="1502815"/>
            <a:ext cx="8663137"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DBMS (Database Management System)</a:t>
            </a:r>
          </a:p>
          <a:p>
            <a:pPr marL="342900" indent="-342900" algn="just">
              <a:buFontTx/>
              <a:buChar char="-"/>
            </a:pPr>
            <a:r>
              <a:rPr lang="en-GB" sz="2200" dirty="0">
                <a:latin typeface="Calibri" panose="020F0502020204030204" pitchFamily="34" charset="0"/>
                <a:cs typeface="Calibri" panose="020F0502020204030204" pitchFamily="34" charset="0"/>
              </a:rPr>
              <a:t>a software system that is used to create, maintain, and provide controlled access to user databases.</a:t>
            </a:r>
          </a:p>
          <a:p>
            <a:pPr marL="265113" indent="-265113" algn="just">
              <a:buFont typeface="Wingdings" panose="05000000000000000000" pitchFamily="2" charset="2"/>
              <a:buChar char="§"/>
            </a:pPr>
            <a:r>
              <a:rPr lang="en-GB" sz="2400" b="1" u="sng" dirty="0">
                <a:latin typeface="Calibri" panose="020F0502020204030204" pitchFamily="34" charset="0"/>
                <a:cs typeface="Calibri" panose="020F0502020204030204" pitchFamily="34" charset="0"/>
              </a:rPr>
              <a:t>Database</a:t>
            </a:r>
          </a:p>
          <a:p>
            <a:pPr marL="342900" indent="-342900" algn="just">
              <a:buFontTx/>
              <a:buChar char="-"/>
            </a:pPr>
            <a:r>
              <a:rPr lang="en-GB" sz="2200" dirty="0">
                <a:latin typeface="Calibri" panose="020F0502020204030204" pitchFamily="34" charset="0"/>
                <a:cs typeface="Calibri" panose="020F0502020204030204" pitchFamily="34" charset="0"/>
              </a:rPr>
              <a:t>organized collection of logically related data, usually designed to meet the information needs of multiple users in an organization.</a:t>
            </a:r>
          </a:p>
          <a:p>
            <a:pPr marL="265113" indent="-265113" algn="just">
              <a:buFont typeface="Wingdings" panose="05000000000000000000" pitchFamily="2" charset="2"/>
              <a:buChar char="§"/>
            </a:pPr>
            <a:r>
              <a:rPr lang="en-GB" sz="2400" b="1" u="sng" dirty="0">
                <a:latin typeface="Calibri" panose="020F0502020204030204" pitchFamily="34" charset="0"/>
                <a:cs typeface="Calibri" panose="020F0502020204030204" pitchFamily="34" charset="0"/>
              </a:rPr>
              <a:t>Application Programs</a:t>
            </a:r>
          </a:p>
          <a:p>
            <a:pPr marL="0" indent="0" algn="just"/>
            <a:r>
              <a:rPr lang="en-GB" sz="2200" dirty="0">
                <a:latin typeface="Calibri" panose="020F0502020204030204" pitchFamily="34" charset="0"/>
                <a:cs typeface="Calibri" panose="020F0502020204030204" pitchFamily="34" charset="0"/>
              </a:rPr>
              <a:t> - used to create and maintain the database and provide information to users.</a:t>
            </a:r>
          </a:p>
        </p:txBody>
      </p:sp>
    </p:spTree>
    <p:extLst>
      <p:ext uri="{BB962C8B-B14F-4D97-AF65-F5344CB8AC3E}">
        <p14:creationId xmlns:p14="http://schemas.microsoft.com/office/powerpoint/2010/main" val="3763240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Components of Database</a:t>
            </a:r>
            <a:br>
              <a:rPr lang="en-US" sz="2800" b="1" dirty="0">
                <a:solidFill>
                  <a:srgbClr val="FFFF00"/>
                </a:solidFill>
              </a:rPr>
            </a:br>
            <a:r>
              <a:rPr lang="en-US" sz="2800" b="1" dirty="0">
                <a:solidFill>
                  <a:srgbClr val="FFFF00"/>
                </a:solidFill>
              </a:rPr>
              <a:t>Environment:</a:t>
            </a:r>
            <a:endParaRPr lang="en-US" sz="2000" b="1" dirty="0">
              <a:solidFill>
                <a:srgbClr val="FFFF00"/>
              </a:solidFill>
            </a:endParaRPr>
          </a:p>
        </p:txBody>
      </p:sp>
      <p:sp>
        <p:nvSpPr>
          <p:cNvPr id="5" name="TextBox 4"/>
          <p:cNvSpPr txBox="1">
            <a:spLocks noChangeArrowheads="1"/>
          </p:cNvSpPr>
          <p:nvPr/>
        </p:nvSpPr>
        <p:spPr bwMode="auto">
          <a:xfrm>
            <a:off x="143555" y="1502815"/>
            <a:ext cx="8663137" cy="320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User Interface</a:t>
            </a:r>
          </a:p>
          <a:p>
            <a:pPr marL="342900" indent="-342900" algn="just">
              <a:buFontTx/>
              <a:buChar char="-"/>
            </a:pPr>
            <a:r>
              <a:rPr lang="en-GB" sz="2200" dirty="0">
                <a:latin typeface="Calibri" panose="020F0502020204030204" pitchFamily="34" charset="0"/>
                <a:cs typeface="Calibri" panose="020F0502020204030204" pitchFamily="34" charset="0"/>
              </a:rPr>
              <a:t>includes languages, menus, and other facilities by which users interact with various system components, such as CASE tools, application programs, the DBMS, and the repository.</a:t>
            </a:r>
          </a:p>
          <a:p>
            <a:pPr marL="265113" indent="-265113" algn="just">
              <a:buFont typeface="Wingdings" panose="05000000000000000000" pitchFamily="2" charset="2"/>
              <a:buChar char="§"/>
            </a:pPr>
            <a:r>
              <a:rPr lang="en-GB" sz="2400" b="1" u="sng" dirty="0">
                <a:latin typeface="Calibri" panose="020F0502020204030204" pitchFamily="34" charset="0"/>
                <a:cs typeface="Calibri" panose="020F0502020204030204" pitchFamily="34" charset="0"/>
              </a:rPr>
              <a:t>Data and Database Administrator</a:t>
            </a:r>
          </a:p>
          <a:p>
            <a:pPr marL="342900" indent="-342900" algn="just">
              <a:buFontTx/>
              <a:buChar char="-"/>
            </a:pPr>
            <a:r>
              <a:rPr lang="en-GB" sz="2200" dirty="0">
                <a:solidFill>
                  <a:srgbClr val="FF0000"/>
                </a:solidFill>
                <a:latin typeface="Calibri" panose="020F0502020204030204" pitchFamily="34" charset="0"/>
                <a:cs typeface="Calibri" panose="020F0502020204030204" pitchFamily="34" charset="0"/>
              </a:rPr>
              <a:t>Data administrators </a:t>
            </a:r>
            <a:r>
              <a:rPr lang="en-GB" sz="2200" dirty="0">
                <a:latin typeface="Calibri" panose="020F0502020204030204" pitchFamily="34" charset="0"/>
                <a:cs typeface="Calibri" panose="020F0502020204030204" pitchFamily="34" charset="0"/>
              </a:rPr>
              <a:t>: responsible for the overall management of data resources in an organization.</a:t>
            </a:r>
          </a:p>
          <a:p>
            <a:pPr marL="342900" indent="-342900" algn="just">
              <a:buFontTx/>
              <a:buChar char="-"/>
            </a:pPr>
            <a:r>
              <a:rPr lang="en-GB" sz="2200" dirty="0">
                <a:solidFill>
                  <a:srgbClr val="FF0000"/>
                </a:solidFill>
                <a:latin typeface="Calibri" panose="020F0502020204030204" pitchFamily="34" charset="0"/>
                <a:cs typeface="Calibri" panose="020F0502020204030204" pitchFamily="34" charset="0"/>
              </a:rPr>
              <a:t>Database administrators </a:t>
            </a:r>
            <a:r>
              <a:rPr lang="en-GB" sz="2200" dirty="0">
                <a:latin typeface="Calibri" panose="020F0502020204030204" pitchFamily="34" charset="0"/>
                <a:cs typeface="Calibri" panose="020F0502020204030204" pitchFamily="34" charset="0"/>
              </a:rPr>
              <a:t>: responsible for physical database design and for managing technical issues in the database environment.</a:t>
            </a:r>
          </a:p>
        </p:txBody>
      </p:sp>
    </p:spTree>
    <p:extLst>
      <p:ext uri="{BB962C8B-B14F-4D97-AF65-F5344CB8AC3E}">
        <p14:creationId xmlns:p14="http://schemas.microsoft.com/office/powerpoint/2010/main" val="3216115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98" y="0"/>
            <a:ext cx="7940660" cy="1318083"/>
          </a:xfrm>
        </p:spPr>
        <p:txBody>
          <a:bodyPr>
            <a:normAutofit/>
          </a:bodyPr>
          <a:lstStyle/>
          <a:p>
            <a:r>
              <a:rPr lang="en-US" sz="2800" b="1" dirty="0">
                <a:solidFill>
                  <a:srgbClr val="FFFF00"/>
                </a:solidFill>
              </a:rPr>
              <a:t>Components of Database</a:t>
            </a:r>
            <a:br>
              <a:rPr lang="en-US" sz="2800" b="1" dirty="0">
                <a:solidFill>
                  <a:srgbClr val="FFFF00"/>
                </a:solidFill>
              </a:rPr>
            </a:br>
            <a:r>
              <a:rPr lang="en-US" sz="2800" b="1" dirty="0">
                <a:solidFill>
                  <a:srgbClr val="FFFF00"/>
                </a:solidFill>
              </a:rPr>
              <a:t>Environment:</a:t>
            </a:r>
            <a:endParaRPr lang="en-US" sz="2000" b="1" dirty="0">
              <a:solidFill>
                <a:srgbClr val="FFFF00"/>
              </a:solidFill>
            </a:endParaRPr>
          </a:p>
        </p:txBody>
      </p:sp>
      <p:sp>
        <p:nvSpPr>
          <p:cNvPr id="5" name="TextBox 4"/>
          <p:cNvSpPr txBox="1">
            <a:spLocks noChangeArrowheads="1"/>
          </p:cNvSpPr>
          <p:nvPr/>
        </p:nvSpPr>
        <p:spPr bwMode="auto">
          <a:xfrm>
            <a:off x="143555" y="1502815"/>
            <a:ext cx="8663137"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System Developers</a:t>
            </a:r>
          </a:p>
          <a:p>
            <a:pPr marL="342900" indent="-342900" algn="just">
              <a:buFontTx/>
              <a:buChar char="-"/>
            </a:pPr>
            <a:r>
              <a:rPr lang="en-GB" sz="2200" dirty="0">
                <a:latin typeface="Calibri" panose="020F0502020204030204" pitchFamily="34" charset="0"/>
                <a:cs typeface="Calibri" panose="020F0502020204030204" pitchFamily="34" charset="0"/>
              </a:rPr>
              <a:t>systems analysts and programmers who design new application programs</a:t>
            </a:r>
          </a:p>
          <a:p>
            <a:pPr marL="342900" indent="-342900" algn="just">
              <a:buFontTx/>
              <a:buChar char="-"/>
            </a:pPr>
            <a:r>
              <a:rPr lang="en-GB" sz="2200" dirty="0">
                <a:latin typeface="Calibri" panose="020F0502020204030204" pitchFamily="34" charset="0"/>
                <a:cs typeface="Calibri" panose="020F0502020204030204" pitchFamily="34" charset="0"/>
              </a:rPr>
              <a:t>uses CASE tools for system requirements analysis and program design.</a:t>
            </a:r>
          </a:p>
          <a:p>
            <a:pPr marL="265113" indent="-265113" algn="just">
              <a:buFont typeface="Wingdings" panose="05000000000000000000" pitchFamily="2" charset="2"/>
              <a:buChar char="§"/>
            </a:pPr>
            <a:r>
              <a:rPr lang="en-GB" sz="2400" b="1" u="sng" dirty="0">
                <a:latin typeface="Calibri" panose="020F0502020204030204" pitchFamily="34" charset="0"/>
                <a:cs typeface="Calibri" panose="020F0502020204030204" pitchFamily="34" charset="0"/>
              </a:rPr>
              <a:t>End Users</a:t>
            </a:r>
          </a:p>
          <a:p>
            <a:pPr marL="342900" indent="-342900" algn="just">
              <a:buFontTx/>
              <a:buChar char="-"/>
            </a:pPr>
            <a:r>
              <a:rPr lang="en-GB" sz="2200" dirty="0">
                <a:latin typeface="Calibri" panose="020F0502020204030204" pitchFamily="34" charset="0"/>
                <a:cs typeface="Calibri" panose="020F0502020204030204" pitchFamily="34" charset="0"/>
              </a:rPr>
              <a:t>persons throughout the organization who add, delete, and modify data in the database and who request or receive information from it.</a:t>
            </a:r>
          </a:p>
        </p:txBody>
      </p:sp>
    </p:spTree>
    <p:extLst>
      <p:ext uri="{BB962C8B-B14F-4D97-AF65-F5344CB8AC3E}">
        <p14:creationId xmlns:p14="http://schemas.microsoft.com/office/powerpoint/2010/main" val="1429577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54375" y="281175"/>
            <a:ext cx="5497380" cy="4437347"/>
          </a:xfrm>
          <a:prstGeom prst="rect">
            <a:avLst/>
          </a:prstGeom>
        </p:spPr>
      </p:pic>
    </p:spTree>
    <p:extLst>
      <p:ext uri="{BB962C8B-B14F-4D97-AF65-F5344CB8AC3E}">
        <p14:creationId xmlns:p14="http://schemas.microsoft.com/office/powerpoint/2010/main" val="893170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2800" b="1" dirty="0">
                <a:solidFill>
                  <a:srgbClr val="FFFF00"/>
                </a:solidFill>
              </a:rPr>
              <a:t>Ranges of Database Application</a:t>
            </a:r>
            <a:endParaRPr lang="en-US" sz="2000" b="1" dirty="0">
              <a:solidFill>
                <a:srgbClr val="FFFF00"/>
              </a:solidFill>
            </a:endParaRPr>
          </a:p>
        </p:txBody>
      </p:sp>
      <p:sp>
        <p:nvSpPr>
          <p:cNvPr id="5" name="TextBox 4"/>
          <p:cNvSpPr txBox="1">
            <a:spLocks noChangeArrowheads="1"/>
          </p:cNvSpPr>
          <p:nvPr/>
        </p:nvSpPr>
        <p:spPr bwMode="auto">
          <a:xfrm>
            <a:off x="143556" y="1399832"/>
            <a:ext cx="488656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Personal Database</a:t>
            </a:r>
          </a:p>
          <a:p>
            <a:pPr marL="342900" indent="-342900" algn="just">
              <a:buFontTx/>
              <a:buChar char="-"/>
            </a:pPr>
            <a:r>
              <a:rPr lang="en-GB" sz="2200" dirty="0">
                <a:latin typeface="Calibri" panose="020F0502020204030204" pitchFamily="34" charset="0"/>
                <a:cs typeface="Calibri" panose="020F0502020204030204" pitchFamily="34" charset="0"/>
              </a:rPr>
              <a:t>designed to support one user</a:t>
            </a:r>
          </a:p>
          <a:p>
            <a:pPr marL="342900" indent="-342900" algn="just">
              <a:buFontTx/>
              <a:buChar char="-"/>
            </a:pPr>
            <a:r>
              <a:rPr lang="en-GB" sz="2200" dirty="0">
                <a:latin typeface="Calibri" panose="020F0502020204030204" pitchFamily="34" charset="0"/>
                <a:cs typeface="Calibri" panose="020F0502020204030204" pitchFamily="34" charset="0"/>
              </a:rPr>
              <a:t>resided on personal computers (PCs), including laptops, and increasingly on smartphones and PDAs</a:t>
            </a:r>
          </a:p>
          <a:p>
            <a:pPr marL="342900" indent="-342900" algn="just">
              <a:buFontTx/>
              <a:buChar char="-"/>
            </a:pPr>
            <a:r>
              <a:rPr lang="en-GB" sz="2200" dirty="0">
                <a:latin typeface="Calibri" panose="020F0502020204030204" pitchFamily="34" charset="0"/>
                <a:cs typeface="Calibri" panose="020F0502020204030204" pitchFamily="34" charset="0"/>
              </a:rPr>
              <a:t>Its purpose is to provide the user with ability to manage (store, update, delete, and retrieve) small amounts of data in an efficient manner.</a:t>
            </a:r>
          </a:p>
          <a:p>
            <a:pPr marL="342900" indent="-342900" algn="just">
              <a:buFontTx/>
              <a:buChar char="-"/>
            </a:pPr>
            <a:r>
              <a:rPr lang="en-GB" sz="2200" dirty="0">
                <a:latin typeface="Calibri" panose="020F0502020204030204" pitchFamily="34" charset="0"/>
                <a:cs typeface="Calibri" panose="020F0502020204030204" pitchFamily="34" charset="0"/>
              </a:rPr>
              <a:t>Risks: data cannot easily be shared.</a:t>
            </a:r>
          </a:p>
        </p:txBody>
      </p:sp>
      <p:pic>
        <p:nvPicPr>
          <p:cNvPr id="1026" name="Picture 2" descr="What is a personal database?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820" y="2419045"/>
            <a:ext cx="3901591" cy="1659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7524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2800" b="1" dirty="0">
                <a:solidFill>
                  <a:srgbClr val="FFFF00"/>
                </a:solidFill>
              </a:rPr>
              <a:t>Ranges of Database Application</a:t>
            </a:r>
            <a:endParaRPr lang="en-US" sz="2000" b="1" dirty="0">
              <a:solidFill>
                <a:srgbClr val="FFFF00"/>
              </a:solidFill>
            </a:endParaRPr>
          </a:p>
        </p:txBody>
      </p:sp>
      <p:sp>
        <p:nvSpPr>
          <p:cNvPr id="5" name="TextBox 4"/>
          <p:cNvSpPr txBox="1">
            <a:spLocks noChangeArrowheads="1"/>
          </p:cNvSpPr>
          <p:nvPr/>
        </p:nvSpPr>
        <p:spPr bwMode="auto">
          <a:xfrm>
            <a:off x="143556" y="1399832"/>
            <a:ext cx="8704184"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Two-tier Client/Server Databases</a:t>
            </a:r>
          </a:p>
          <a:p>
            <a:pPr marL="342900" indent="-342900" algn="just">
              <a:buFontTx/>
              <a:buChar char="-"/>
            </a:pPr>
            <a:r>
              <a:rPr lang="en-GB" sz="2200" dirty="0">
                <a:latin typeface="Calibri" panose="020F0502020204030204" pitchFamily="34" charset="0"/>
                <a:cs typeface="Calibri" panose="020F0502020204030204" pitchFamily="34" charset="0"/>
              </a:rPr>
              <a:t>the client requests resources and the server responds directly to the request, using its own resources. </a:t>
            </a:r>
          </a:p>
          <a:p>
            <a:pPr marL="342900" indent="-342900" algn="just">
              <a:buFontTx/>
              <a:buChar char="-"/>
            </a:pPr>
            <a:r>
              <a:rPr lang="en-GB" sz="2200" dirty="0">
                <a:latin typeface="Calibri" panose="020F0502020204030204" pitchFamily="34" charset="0"/>
                <a:cs typeface="Calibri" panose="020F0502020204030204" pitchFamily="34" charset="0"/>
              </a:rPr>
              <a:t>means that the server does not call on another application in order to provide part of the service.</a:t>
            </a:r>
          </a:p>
          <a:p>
            <a:pPr marL="342900" indent="-342900" algn="just">
              <a:buFontTx/>
              <a:buChar char="-"/>
            </a:pPr>
            <a:r>
              <a:rPr lang="en-GB" sz="2200" dirty="0">
                <a:latin typeface="Calibri" panose="020F0502020204030204" pitchFamily="34" charset="0"/>
                <a:cs typeface="Calibri" panose="020F0502020204030204" pitchFamily="34" charset="0"/>
              </a:rPr>
              <a:t>database and the DBMS are stored on a central device (database server) which is also connected to the network.</a:t>
            </a:r>
          </a:p>
        </p:txBody>
      </p:sp>
    </p:spTree>
    <p:extLst>
      <p:ext uri="{BB962C8B-B14F-4D97-AF65-F5344CB8AC3E}">
        <p14:creationId xmlns:p14="http://schemas.microsoft.com/office/powerpoint/2010/main" val="1900320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2800" b="1" dirty="0">
                <a:solidFill>
                  <a:srgbClr val="FFFF00"/>
                </a:solidFill>
              </a:rPr>
              <a:t>Ranges of Database Application</a:t>
            </a:r>
            <a:endParaRPr lang="en-US" sz="2000" b="1" dirty="0">
              <a:solidFill>
                <a:srgbClr val="FFFF00"/>
              </a:solidFill>
            </a:endParaRPr>
          </a:p>
        </p:txBody>
      </p:sp>
      <p:sp>
        <p:nvSpPr>
          <p:cNvPr id="5" name="TextBox 4"/>
          <p:cNvSpPr txBox="1">
            <a:spLocks noChangeArrowheads="1"/>
          </p:cNvSpPr>
          <p:nvPr/>
        </p:nvSpPr>
        <p:spPr bwMode="auto">
          <a:xfrm>
            <a:off x="143555" y="1399832"/>
            <a:ext cx="50392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Two-tier Client/Server Databases</a:t>
            </a:r>
          </a:p>
        </p:txBody>
      </p:sp>
      <p:pic>
        <p:nvPicPr>
          <p:cNvPr id="3" name="Picture 2"/>
          <p:cNvPicPr>
            <a:picLocks noChangeAspect="1"/>
          </p:cNvPicPr>
          <p:nvPr/>
        </p:nvPicPr>
        <p:blipFill>
          <a:blip r:embed="rId3"/>
          <a:stretch>
            <a:fillRect/>
          </a:stretch>
        </p:blipFill>
        <p:spPr>
          <a:xfrm>
            <a:off x="1517900" y="1955294"/>
            <a:ext cx="5955495" cy="2901395"/>
          </a:xfrm>
          <a:prstGeom prst="rect">
            <a:avLst/>
          </a:prstGeom>
        </p:spPr>
      </p:pic>
    </p:spTree>
    <p:extLst>
      <p:ext uri="{BB962C8B-B14F-4D97-AF65-F5344CB8AC3E}">
        <p14:creationId xmlns:p14="http://schemas.microsoft.com/office/powerpoint/2010/main" val="2923655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2800" b="1" dirty="0">
                <a:solidFill>
                  <a:srgbClr val="FFFF00"/>
                </a:solidFill>
              </a:rPr>
              <a:t>Ranges of Database Application</a:t>
            </a:r>
            <a:endParaRPr lang="en-US" sz="2000" b="1" dirty="0">
              <a:solidFill>
                <a:srgbClr val="FFFF00"/>
              </a:solidFill>
            </a:endParaRPr>
          </a:p>
        </p:txBody>
      </p:sp>
      <p:sp>
        <p:nvSpPr>
          <p:cNvPr id="5" name="TextBox 4"/>
          <p:cNvSpPr txBox="1">
            <a:spLocks noChangeArrowheads="1"/>
          </p:cNvSpPr>
          <p:nvPr/>
        </p:nvSpPr>
        <p:spPr bwMode="auto">
          <a:xfrm>
            <a:off x="143555" y="1399832"/>
            <a:ext cx="8704185"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Multitier Client/Server Database	</a:t>
            </a:r>
          </a:p>
          <a:p>
            <a:pPr marL="342900" indent="-342900" algn="just">
              <a:buFontTx/>
              <a:buChar char="-"/>
            </a:pPr>
            <a:r>
              <a:rPr lang="en-GB" sz="2200" dirty="0">
                <a:latin typeface="Calibri" panose="020F0502020204030204" pitchFamily="34" charset="0"/>
                <a:cs typeface="Calibri" panose="020F0502020204030204" pitchFamily="34" charset="0"/>
              </a:rPr>
              <a:t>In 3-tier architecture, there is an intermediary level, meaning that the architecture is generally split up between:</a:t>
            </a:r>
          </a:p>
          <a:p>
            <a:pPr marL="342900" indent="-342900" algn="just">
              <a:buFontTx/>
              <a:buChar char="-"/>
            </a:pPr>
            <a:r>
              <a:rPr lang="en-GB" sz="2200" dirty="0">
                <a:solidFill>
                  <a:srgbClr val="FF0000"/>
                </a:solidFill>
                <a:latin typeface="Calibri" panose="020F0502020204030204" pitchFamily="34" charset="0"/>
                <a:cs typeface="Calibri" panose="020F0502020204030204" pitchFamily="34" charset="0"/>
              </a:rPr>
              <a:t>A client (the computer): </a:t>
            </a:r>
            <a:r>
              <a:rPr lang="en-GB" sz="2200" dirty="0">
                <a:latin typeface="Calibri" panose="020F0502020204030204" pitchFamily="34" charset="0"/>
                <a:cs typeface="Calibri" panose="020F0502020204030204" pitchFamily="34" charset="0"/>
              </a:rPr>
              <a:t>requests the resources, equipped with a user interface (usually a web browser) for presentation purposes.</a:t>
            </a:r>
          </a:p>
          <a:p>
            <a:pPr marL="342900" indent="-342900" algn="just">
              <a:buFontTx/>
              <a:buChar char="-"/>
            </a:pPr>
            <a:r>
              <a:rPr lang="en-GB" sz="2200" dirty="0">
                <a:solidFill>
                  <a:srgbClr val="FF0000"/>
                </a:solidFill>
                <a:latin typeface="Calibri" panose="020F0502020204030204" pitchFamily="34" charset="0"/>
                <a:cs typeface="Calibri" panose="020F0502020204030204" pitchFamily="34" charset="0"/>
              </a:rPr>
              <a:t>The application server (also called middleware):</a:t>
            </a:r>
            <a:r>
              <a:rPr lang="en-GB" sz="2200" dirty="0">
                <a:latin typeface="Calibri" panose="020F0502020204030204" pitchFamily="34" charset="0"/>
                <a:cs typeface="Calibri" panose="020F0502020204030204" pitchFamily="34" charset="0"/>
              </a:rPr>
              <a:t> its task is to provide the requested resources but by calling on another server.</a:t>
            </a:r>
          </a:p>
          <a:p>
            <a:pPr marL="342900" indent="-342900" algn="just">
              <a:buFontTx/>
              <a:buChar char="-"/>
            </a:pPr>
            <a:r>
              <a:rPr lang="en-GB" sz="2200" dirty="0">
                <a:solidFill>
                  <a:srgbClr val="FF0000"/>
                </a:solidFill>
                <a:latin typeface="Calibri" panose="020F0502020204030204" pitchFamily="34" charset="0"/>
                <a:cs typeface="Calibri" panose="020F0502020204030204" pitchFamily="34" charset="0"/>
              </a:rPr>
              <a:t>The data server:</a:t>
            </a:r>
            <a:r>
              <a:rPr lang="en-GB" sz="2200" dirty="0">
                <a:latin typeface="Calibri" panose="020F0502020204030204" pitchFamily="34" charset="0"/>
                <a:cs typeface="Calibri" panose="020F0502020204030204" pitchFamily="34" charset="0"/>
              </a:rPr>
              <a:t> provides the application server with the data that it requires.</a:t>
            </a:r>
          </a:p>
        </p:txBody>
      </p:sp>
    </p:spTree>
    <p:extLst>
      <p:ext uri="{BB962C8B-B14F-4D97-AF65-F5344CB8AC3E}">
        <p14:creationId xmlns:p14="http://schemas.microsoft.com/office/powerpoint/2010/main" val="3154334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2800" b="1" dirty="0">
                <a:solidFill>
                  <a:srgbClr val="FFFF00"/>
                </a:solidFill>
              </a:rPr>
              <a:t>Ranges of Database Application</a:t>
            </a:r>
            <a:endParaRPr lang="en-US" sz="2000" b="1" dirty="0">
              <a:solidFill>
                <a:srgbClr val="FFFF00"/>
              </a:solidFill>
            </a:endParaRPr>
          </a:p>
        </p:txBody>
      </p:sp>
      <p:sp>
        <p:nvSpPr>
          <p:cNvPr id="5" name="TextBox 4"/>
          <p:cNvSpPr txBox="1">
            <a:spLocks noChangeArrowheads="1"/>
          </p:cNvSpPr>
          <p:nvPr/>
        </p:nvSpPr>
        <p:spPr bwMode="auto">
          <a:xfrm>
            <a:off x="143555" y="1399832"/>
            <a:ext cx="50392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Multitier Client/Server Databases</a:t>
            </a:r>
          </a:p>
        </p:txBody>
      </p:sp>
      <p:pic>
        <p:nvPicPr>
          <p:cNvPr id="2050" name="Picture 2" descr="What is Difference Between Two-Tier and Three-Tier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015" y="2041994"/>
            <a:ext cx="4791075" cy="307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74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2800" b="1" dirty="0">
                <a:solidFill>
                  <a:srgbClr val="FFFF00"/>
                </a:solidFill>
              </a:rPr>
              <a:t>Ranges of Database Application</a:t>
            </a:r>
            <a:endParaRPr lang="en-US" sz="2000" b="1" dirty="0">
              <a:solidFill>
                <a:srgbClr val="FFFF00"/>
              </a:solidFill>
            </a:endParaRPr>
          </a:p>
        </p:txBody>
      </p:sp>
      <p:sp>
        <p:nvSpPr>
          <p:cNvPr id="5" name="TextBox 4"/>
          <p:cNvSpPr txBox="1">
            <a:spLocks noChangeArrowheads="1"/>
          </p:cNvSpPr>
          <p:nvPr/>
        </p:nvSpPr>
        <p:spPr bwMode="auto">
          <a:xfrm>
            <a:off x="143555" y="1399832"/>
            <a:ext cx="8704185"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Enterprise Database</a:t>
            </a:r>
          </a:p>
          <a:p>
            <a:pPr marL="342900" indent="-342900" algn="just">
              <a:buFontTx/>
              <a:buChar char="-"/>
            </a:pPr>
            <a:r>
              <a:rPr lang="en-GB" sz="2200" dirty="0">
                <a:latin typeface="Calibri" panose="020F0502020204030204" pitchFamily="34" charset="0"/>
                <a:cs typeface="Calibri" panose="020F0502020204030204" pitchFamily="34" charset="0"/>
              </a:rPr>
              <a:t>are widely used by enterprises in order to strategize, plan and standardize practices. </a:t>
            </a:r>
          </a:p>
          <a:p>
            <a:pPr marL="342900" indent="-342900" algn="just">
              <a:buFontTx/>
              <a:buChar char="-"/>
            </a:pPr>
            <a:r>
              <a:rPr lang="en-GB" sz="2200" dirty="0">
                <a:latin typeface="Calibri" panose="020F0502020204030204" pitchFamily="34" charset="0"/>
                <a:cs typeface="Calibri" panose="020F0502020204030204" pitchFamily="34" charset="0"/>
              </a:rPr>
              <a:t>can handle large organizations with thousands of employees and busy web server with lots of people accessing it simultaneously online (100 to 10,000 individuals).</a:t>
            </a:r>
          </a:p>
        </p:txBody>
      </p:sp>
    </p:spTree>
    <p:extLst>
      <p:ext uri="{BB962C8B-B14F-4D97-AF65-F5344CB8AC3E}">
        <p14:creationId xmlns:p14="http://schemas.microsoft.com/office/powerpoint/2010/main" val="67349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3200" b="1" dirty="0">
                <a:solidFill>
                  <a:srgbClr val="FFFF00"/>
                </a:solidFill>
              </a:rPr>
              <a:t>EVOLUTION OF DATABASE:</a:t>
            </a:r>
            <a:endParaRPr lang="en-US" sz="2400" b="1" dirty="0">
              <a:solidFill>
                <a:srgbClr val="FFFF00"/>
              </a:solidFill>
            </a:endParaRPr>
          </a:p>
        </p:txBody>
      </p:sp>
      <p:sp>
        <p:nvSpPr>
          <p:cNvPr id="5" name="TextBox 4"/>
          <p:cNvSpPr txBox="1">
            <a:spLocks noChangeArrowheads="1"/>
          </p:cNvSpPr>
          <p:nvPr/>
        </p:nvSpPr>
        <p:spPr bwMode="auto">
          <a:xfrm>
            <a:off x="143555" y="1399832"/>
            <a:ext cx="8704185"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400" b="1" u="sng" dirty="0">
                <a:latin typeface="Calibri" panose="020F0502020204030204" pitchFamily="34" charset="0"/>
                <a:cs typeface="Calibri" panose="020F0502020204030204" pitchFamily="34" charset="0"/>
              </a:rPr>
              <a:t>1960s</a:t>
            </a:r>
          </a:p>
          <a:p>
            <a:pPr marL="342900" indent="-342900" algn="just">
              <a:buFontTx/>
              <a:buChar char="-"/>
            </a:pPr>
            <a:r>
              <a:rPr lang="en-GB" sz="2200" dirty="0">
                <a:latin typeface="Calibri" panose="020F0502020204030204" pitchFamily="34" charset="0"/>
                <a:cs typeface="Calibri" panose="020F0502020204030204" pitchFamily="34" charset="0"/>
              </a:rPr>
              <a:t>File system was still dominant</a:t>
            </a:r>
          </a:p>
          <a:p>
            <a:pPr marL="342900" indent="-342900" algn="just">
              <a:buFontTx/>
              <a:buChar char="-"/>
            </a:pPr>
            <a:r>
              <a:rPr lang="en-GB" sz="2200" dirty="0">
                <a:latin typeface="Calibri" panose="020F0502020204030204" pitchFamily="34" charset="0"/>
                <a:cs typeface="Calibri" panose="020F0502020204030204" pitchFamily="34" charset="0"/>
              </a:rPr>
              <a:t>First DBMS was introduced and was used primarily for large and complex ventures such as the Apollo moon-landing project.</a:t>
            </a:r>
          </a:p>
          <a:p>
            <a:pPr marL="342900" indent="-342900" algn="just">
              <a:buFontTx/>
              <a:buChar char="-"/>
            </a:pPr>
            <a:r>
              <a:rPr lang="en-GB" sz="2200" dirty="0">
                <a:latin typeface="Calibri" panose="020F0502020204030204" pitchFamily="34" charset="0"/>
                <a:cs typeface="Calibri" panose="020F0502020204030204" pitchFamily="34" charset="0"/>
              </a:rPr>
              <a:t>“proof-of-concept” period (feasibility of managing vast of information was demonstrated.)</a:t>
            </a:r>
          </a:p>
          <a:p>
            <a:pPr marL="342900" indent="-342900" algn="just">
              <a:buFontTx/>
              <a:buChar char="-"/>
            </a:pPr>
            <a:r>
              <a:rPr lang="en-GB" sz="2200" dirty="0">
                <a:latin typeface="Calibri" panose="020F0502020204030204" pitchFamily="34" charset="0"/>
                <a:cs typeface="Calibri" panose="020F0502020204030204" pitchFamily="34" charset="0"/>
              </a:rPr>
              <a:t>Formation of </a:t>
            </a:r>
            <a:r>
              <a:rPr lang="en-GB" sz="2200" dirty="0">
                <a:solidFill>
                  <a:srgbClr val="FF0000"/>
                </a:solidFill>
                <a:latin typeface="Calibri" panose="020F0502020204030204" pitchFamily="34" charset="0"/>
                <a:cs typeface="Calibri" panose="020F0502020204030204" pitchFamily="34" charset="0"/>
              </a:rPr>
              <a:t>Data Base Task Group </a:t>
            </a:r>
            <a:r>
              <a:rPr lang="en-GB" sz="2200" dirty="0">
                <a:latin typeface="Calibri" panose="020F0502020204030204" pitchFamily="34" charset="0"/>
                <a:cs typeface="Calibri" panose="020F0502020204030204" pitchFamily="34" charset="0"/>
              </a:rPr>
              <a:t>- working group founded in 1965 by the Cobol Committee (published a report containing specifications of a Data Manipulation Language (DML) and a Data Definition Language (DDL) for standardization of network database model.)</a:t>
            </a:r>
          </a:p>
        </p:txBody>
      </p:sp>
    </p:spTree>
    <p:extLst>
      <p:ext uri="{BB962C8B-B14F-4D97-AF65-F5344CB8AC3E}">
        <p14:creationId xmlns:p14="http://schemas.microsoft.com/office/powerpoint/2010/main" val="3263460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3200" b="1" dirty="0">
                <a:solidFill>
                  <a:srgbClr val="FFFF00"/>
                </a:solidFill>
              </a:rPr>
              <a:t>EVOLUTION OF DATABASE:</a:t>
            </a:r>
            <a:endParaRPr lang="en-US" sz="2400" b="1" dirty="0">
              <a:solidFill>
                <a:srgbClr val="FFFF00"/>
              </a:solidFill>
            </a:endParaRPr>
          </a:p>
        </p:txBody>
      </p:sp>
      <p:sp>
        <p:nvSpPr>
          <p:cNvPr id="5" name="TextBox 4"/>
          <p:cNvSpPr txBox="1">
            <a:spLocks noChangeArrowheads="1"/>
          </p:cNvSpPr>
          <p:nvPr/>
        </p:nvSpPr>
        <p:spPr bwMode="auto">
          <a:xfrm>
            <a:off x="143555" y="1350110"/>
            <a:ext cx="8704185"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5113" indent="-265113" algn="just">
              <a:buFont typeface="Wingdings" panose="05000000000000000000" pitchFamily="2" charset="2"/>
              <a:buChar char="§"/>
              <a:defRPr/>
            </a:pPr>
            <a:r>
              <a:rPr lang="en-GB" altLang="en-US" sz="2800" b="1" u="sng" dirty="0">
                <a:latin typeface="Calibri" panose="020F0502020204030204" pitchFamily="34" charset="0"/>
                <a:cs typeface="Calibri" panose="020F0502020204030204" pitchFamily="34" charset="0"/>
              </a:rPr>
              <a:t>1970s</a:t>
            </a:r>
          </a:p>
          <a:p>
            <a:pPr marL="342900" indent="-342900" algn="just">
              <a:buFontTx/>
              <a:buChar char="-"/>
            </a:pPr>
            <a:r>
              <a:rPr lang="en-GB" sz="2400" dirty="0">
                <a:latin typeface="Calibri" panose="020F0502020204030204" pitchFamily="34" charset="0"/>
                <a:cs typeface="Calibri" panose="020F0502020204030204" pitchFamily="34" charset="0"/>
              </a:rPr>
              <a:t>use of database management systems became a commercial reality.</a:t>
            </a:r>
          </a:p>
          <a:p>
            <a:pPr marL="342900" indent="-342900" algn="just">
              <a:buFontTx/>
              <a:buChar char="-"/>
            </a:pPr>
            <a:r>
              <a:rPr lang="en-GB" sz="2400" dirty="0">
                <a:latin typeface="Calibri" panose="020F0502020204030204" pitchFamily="34" charset="0"/>
                <a:cs typeface="Calibri" panose="020F0502020204030204" pitchFamily="34" charset="0"/>
              </a:rPr>
              <a:t>Hierarchical and network DBMs were developed (first generation DBMS)</a:t>
            </a:r>
          </a:p>
          <a:p>
            <a:pPr marL="342900" indent="-342900" algn="just">
              <a:buFontTx/>
              <a:buChar char="-"/>
            </a:pPr>
            <a:r>
              <a:rPr lang="en-GB" sz="2400" dirty="0">
                <a:latin typeface="Calibri" panose="020F0502020204030204" pitchFamily="34" charset="0"/>
                <a:cs typeface="Calibri" panose="020F0502020204030204" pitchFamily="34" charset="0"/>
              </a:rPr>
              <a:t>Relational Data model was also developed by E.F. </a:t>
            </a:r>
            <a:r>
              <a:rPr lang="en-GB" sz="2400" dirty="0" err="1">
                <a:latin typeface="Calibri" panose="020F0502020204030204" pitchFamily="34" charset="0"/>
                <a:cs typeface="Calibri" panose="020F0502020204030204" pitchFamily="34" charset="0"/>
              </a:rPr>
              <a:t>Codd</a:t>
            </a:r>
            <a:r>
              <a:rPr lang="en-GB" sz="2400" dirty="0">
                <a:latin typeface="Calibri" panose="020F0502020204030204" pitchFamily="34" charset="0"/>
                <a:cs typeface="Calibri" panose="020F0502020204030204" pitchFamily="34" charset="0"/>
              </a:rPr>
              <a:t> (2</a:t>
            </a:r>
            <a:r>
              <a:rPr lang="en-GB" sz="2400" baseline="30000" dirty="0">
                <a:latin typeface="Calibri" panose="020F0502020204030204" pitchFamily="34" charset="0"/>
                <a:cs typeface="Calibri" panose="020F0502020204030204" pitchFamily="34" charset="0"/>
              </a:rPr>
              <a:t>nd</a:t>
            </a:r>
            <a:r>
              <a:rPr lang="en-GB" sz="2400" dirty="0">
                <a:latin typeface="Calibri" panose="020F0502020204030204" pitchFamily="34" charset="0"/>
                <a:cs typeface="Calibri" panose="020F0502020204030204" pitchFamily="34" charset="0"/>
              </a:rPr>
              <a:t> generation  DBMS)</a:t>
            </a:r>
          </a:p>
          <a:p>
            <a:pPr marL="271463" indent="-271463" algn="just">
              <a:buFont typeface="Wingdings" panose="05000000000000000000" pitchFamily="2" charset="2"/>
              <a:buChar char="§"/>
            </a:pPr>
            <a:r>
              <a:rPr lang="en-GB" sz="2800" b="1" u="sng" dirty="0">
                <a:latin typeface="Calibri" panose="020F0502020204030204" pitchFamily="34" charset="0"/>
                <a:cs typeface="Calibri" panose="020F0502020204030204" pitchFamily="34" charset="0"/>
              </a:rPr>
              <a:t>1980s</a:t>
            </a:r>
          </a:p>
          <a:p>
            <a:pPr marL="342900" indent="-342900" algn="just">
              <a:buFontTx/>
              <a:buChar char="-"/>
            </a:pPr>
            <a:r>
              <a:rPr lang="en-GB" sz="2400" dirty="0">
                <a:latin typeface="Calibri" panose="020F0502020204030204" pitchFamily="34" charset="0"/>
                <a:cs typeface="Calibri" panose="020F0502020204030204" pitchFamily="34" charset="0"/>
              </a:rPr>
              <a:t>Widespread use of relational data model throughout the business world</a:t>
            </a:r>
          </a:p>
        </p:txBody>
      </p:sp>
    </p:spTree>
    <p:extLst>
      <p:ext uri="{BB962C8B-B14F-4D97-AF65-F5344CB8AC3E}">
        <p14:creationId xmlns:p14="http://schemas.microsoft.com/office/powerpoint/2010/main" val="624313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3200" b="1" dirty="0">
                <a:solidFill>
                  <a:srgbClr val="FFFF00"/>
                </a:solidFill>
              </a:rPr>
              <a:t>EVOLUTION OF DATABASE:</a:t>
            </a:r>
            <a:endParaRPr lang="en-US" sz="2400" b="1" dirty="0">
              <a:solidFill>
                <a:srgbClr val="FFFF00"/>
              </a:solidFill>
            </a:endParaRPr>
          </a:p>
        </p:txBody>
      </p:sp>
      <p:sp>
        <p:nvSpPr>
          <p:cNvPr id="5" name="TextBox 4"/>
          <p:cNvSpPr txBox="1">
            <a:spLocks noChangeArrowheads="1"/>
          </p:cNvSpPr>
          <p:nvPr/>
        </p:nvSpPr>
        <p:spPr bwMode="auto">
          <a:xfrm>
            <a:off x="143555" y="1399832"/>
            <a:ext cx="8704185"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71463" indent="-271463" algn="just">
              <a:buFont typeface="Wingdings" panose="05000000000000000000" pitchFamily="2" charset="2"/>
              <a:buChar char="§"/>
            </a:pPr>
            <a:r>
              <a:rPr lang="en-GB" sz="2800" b="1" u="sng" dirty="0">
                <a:latin typeface="Calibri" panose="020F0502020204030204" pitchFamily="34" charset="0"/>
                <a:cs typeface="Calibri" panose="020F0502020204030204" pitchFamily="34" charset="0"/>
              </a:rPr>
              <a:t>1990s</a:t>
            </a:r>
          </a:p>
          <a:p>
            <a:pPr marL="342900" indent="-342900" algn="just">
              <a:buFontTx/>
              <a:buChar char="-"/>
            </a:pPr>
            <a:r>
              <a:rPr lang="en-GB" sz="2400" dirty="0">
                <a:latin typeface="Calibri" panose="020F0502020204030204" pitchFamily="34" charset="0"/>
                <a:cs typeface="Calibri" panose="020F0502020204030204" pitchFamily="34" charset="0"/>
              </a:rPr>
              <a:t>New era of computing </a:t>
            </a:r>
          </a:p>
          <a:p>
            <a:pPr marL="342900" indent="-342900" algn="just">
              <a:buFontTx/>
              <a:buChar char="-"/>
            </a:pPr>
            <a:r>
              <a:rPr lang="en-GB" sz="2400" dirty="0">
                <a:latin typeface="Calibri" panose="020F0502020204030204" pitchFamily="34" charset="0"/>
                <a:cs typeface="Calibri" panose="020F0502020204030204" pitchFamily="34" charset="0"/>
              </a:rPr>
              <a:t>First client/server computing, data warehousing and internet applications became increasingly very important.</a:t>
            </a:r>
          </a:p>
          <a:p>
            <a:pPr marL="342900" indent="-342900" algn="just">
              <a:buFontTx/>
              <a:buChar char="-"/>
            </a:pPr>
            <a:r>
              <a:rPr lang="en-GB" sz="2400" dirty="0">
                <a:latin typeface="Calibri" panose="020F0502020204030204" pitchFamily="34" charset="0"/>
                <a:cs typeface="Calibri" panose="020F0502020204030204" pitchFamily="34" charset="0"/>
              </a:rPr>
              <a:t>Object-oriented database (3</a:t>
            </a:r>
            <a:r>
              <a:rPr lang="en-GB" sz="2400" baseline="30000" dirty="0">
                <a:latin typeface="Calibri" panose="020F0502020204030204" pitchFamily="34" charset="0"/>
                <a:cs typeface="Calibri" panose="020F0502020204030204" pitchFamily="34" charset="0"/>
              </a:rPr>
              <a:t>rd</a:t>
            </a:r>
            <a:r>
              <a:rPr lang="en-GB" sz="2400" dirty="0">
                <a:latin typeface="Calibri" panose="020F0502020204030204" pitchFamily="34" charset="0"/>
                <a:cs typeface="Calibri" panose="020F0502020204030204" pitchFamily="34" charset="0"/>
              </a:rPr>
              <a:t> generation) was introduced during late 1980s</a:t>
            </a:r>
          </a:p>
          <a:p>
            <a:pPr marL="342900" indent="-342900" algn="just">
              <a:buFontTx/>
              <a:buChar char="-"/>
            </a:pP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9153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 y="0"/>
            <a:ext cx="7940660" cy="1318083"/>
          </a:xfrm>
        </p:spPr>
        <p:txBody>
          <a:bodyPr>
            <a:normAutofit/>
          </a:bodyPr>
          <a:lstStyle/>
          <a:p>
            <a:r>
              <a:rPr lang="en-US" sz="3200" b="1" dirty="0">
                <a:solidFill>
                  <a:srgbClr val="FFFF00"/>
                </a:solidFill>
              </a:rPr>
              <a:t>EVOLUTION OF DATABASE:</a:t>
            </a:r>
            <a:endParaRPr lang="en-US" sz="2400" b="1" dirty="0">
              <a:solidFill>
                <a:srgbClr val="FFFF00"/>
              </a:solidFill>
            </a:endParaRPr>
          </a:p>
        </p:txBody>
      </p:sp>
      <p:sp>
        <p:nvSpPr>
          <p:cNvPr id="5" name="TextBox 4"/>
          <p:cNvSpPr txBox="1">
            <a:spLocks noChangeArrowheads="1"/>
          </p:cNvSpPr>
          <p:nvPr/>
        </p:nvSpPr>
        <p:spPr bwMode="auto">
          <a:xfrm>
            <a:off x="143555" y="1399832"/>
            <a:ext cx="8704185"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71463" indent="-271463" algn="just">
              <a:buFont typeface="Wingdings" panose="05000000000000000000" pitchFamily="2" charset="2"/>
              <a:buChar char="§"/>
            </a:pPr>
            <a:r>
              <a:rPr lang="en-GB" sz="2800" b="1" u="sng" dirty="0">
                <a:latin typeface="Calibri" panose="020F0502020204030204" pitchFamily="34" charset="0"/>
                <a:cs typeface="Calibri" panose="020F0502020204030204" pitchFamily="34" charset="0"/>
              </a:rPr>
              <a:t>2000 and beyond</a:t>
            </a:r>
          </a:p>
          <a:p>
            <a:pPr marL="342900" indent="-342900" algn="just">
              <a:buFontTx/>
              <a:buChar char="-"/>
            </a:pPr>
            <a:r>
              <a:rPr lang="en-GB" sz="2400" dirty="0">
                <a:latin typeface="Calibri" panose="020F0502020204030204" pitchFamily="34" charset="0"/>
                <a:cs typeface="Calibri" panose="020F0502020204030204" pitchFamily="34" charset="0"/>
              </a:rPr>
              <a:t>Relational database is still widely used</a:t>
            </a:r>
          </a:p>
          <a:p>
            <a:pPr marL="342900" indent="-342900" algn="just">
              <a:buFontTx/>
              <a:buChar char="-"/>
            </a:pPr>
            <a:r>
              <a:rPr lang="en-GB" sz="2400" dirty="0">
                <a:latin typeface="Calibri" panose="020F0502020204030204" pitchFamily="34" charset="0"/>
                <a:cs typeface="Calibri" panose="020F0502020204030204" pitchFamily="34" charset="0"/>
              </a:rPr>
              <a:t>Object-oriented and object-relational are also garnering attention due to growth in unstructured data/contents.</a:t>
            </a:r>
          </a:p>
          <a:p>
            <a:pPr marL="342900" indent="-342900" algn="just">
              <a:buFontTx/>
              <a:buChar char="-"/>
            </a:pPr>
            <a:r>
              <a:rPr lang="en-GB" sz="2400" dirty="0">
                <a:latin typeface="Calibri" panose="020F0502020204030204" pitchFamily="34" charset="0"/>
                <a:cs typeface="Calibri" panose="020F0502020204030204" pitchFamily="34" charset="0"/>
              </a:rPr>
              <a:t>New possibilities for faster database processing (cheap computer chips and new database technologies)</a:t>
            </a:r>
          </a:p>
          <a:p>
            <a:pPr marL="342900" indent="-342900" algn="just">
              <a:buFontTx/>
              <a:buChar char="-"/>
            </a:pPr>
            <a:r>
              <a:rPr lang="en-GB" sz="2400" dirty="0">
                <a:latin typeface="Calibri" panose="020F0502020204030204" pitchFamily="34" charset="0"/>
                <a:cs typeface="Calibri" panose="020F0502020204030204" pitchFamily="34" charset="0"/>
              </a:rPr>
              <a:t>Sarbanes-Oxley, HIPAA, and Basel Convention : regulations/acts that highlighted the importance of good data management practices.</a:t>
            </a:r>
          </a:p>
          <a:p>
            <a:pPr marL="342900" indent="-342900" algn="just">
              <a:buFontTx/>
              <a:buChar char="-"/>
            </a:pP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6275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1044700"/>
            <a:ext cx="3970330" cy="2901395"/>
          </a:xfrm>
        </p:spPr>
        <p:txBody>
          <a:bodyPr>
            <a:normAutofit/>
          </a:bodyPr>
          <a:lstStyle/>
          <a:p>
            <a:pPr algn="ctr"/>
            <a:r>
              <a:rPr lang="en-US" sz="7200" b="1" dirty="0">
                <a:solidFill>
                  <a:srgbClr val="FFFF00"/>
                </a:solidFill>
              </a:rPr>
              <a:t>THANK YOU!!</a:t>
            </a:r>
          </a:p>
        </p:txBody>
      </p:sp>
    </p:spTree>
    <p:extLst>
      <p:ext uri="{BB962C8B-B14F-4D97-AF65-F5344CB8AC3E}">
        <p14:creationId xmlns:p14="http://schemas.microsoft.com/office/powerpoint/2010/main" val="3097909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2067</Words>
  <Application>Microsoft Office PowerPoint</Application>
  <PresentationFormat>On-screen Show (16:9)</PresentationFormat>
  <Paragraphs>218</Paragraphs>
  <Slides>39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Wingdings</vt:lpstr>
      <vt:lpstr>Office Theme</vt:lpstr>
      <vt:lpstr>Chapter 1:  Introduction to Database Concepts</vt:lpstr>
      <vt:lpstr>Database</vt:lpstr>
      <vt:lpstr>Data</vt:lpstr>
      <vt:lpstr>PowerPoint Presentation</vt:lpstr>
      <vt:lpstr>Information</vt:lpstr>
      <vt:lpstr>Metadata</vt:lpstr>
      <vt:lpstr>Disadvantages of Traditional File Processing System:</vt:lpstr>
      <vt:lpstr>THE DATABASE APPROACH</vt:lpstr>
      <vt:lpstr>THE DATABASE APPROACH</vt:lpstr>
      <vt:lpstr>THE DATABASE APPROACH</vt:lpstr>
      <vt:lpstr>THE DATABASE APPROACH</vt:lpstr>
      <vt:lpstr>THE DATABASE APPROACH</vt:lpstr>
      <vt:lpstr>THE DATABASE APPROACH</vt:lpstr>
      <vt:lpstr>THE DATABASE APPROACH</vt:lpstr>
      <vt:lpstr>THE DATABASE APPROACH</vt:lpstr>
      <vt:lpstr>DBMS  (Database Management System)</vt:lpstr>
      <vt:lpstr>Advantages of  Database Approach:</vt:lpstr>
      <vt:lpstr>Advantages of  Database Approach:</vt:lpstr>
      <vt:lpstr>Advantages of  Database Approach:</vt:lpstr>
      <vt:lpstr>Advantages of Database Approach:</vt:lpstr>
      <vt:lpstr>Cost and Risk of Database Approach:</vt:lpstr>
      <vt:lpstr>Cost and Risk of Database Approach:</vt:lpstr>
      <vt:lpstr>Cost and Risk of Database Approach:</vt:lpstr>
      <vt:lpstr>Components of Database Environment:</vt:lpstr>
      <vt:lpstr>Components of Database Environment:</vt:lpstr>
      <vt:lpstr>Components of Database Environment:</vt:lpstr>
      <vt:lpstr>Components of Database Environment:</vt:lpstr>
      <vt:lpstr>PowerPoint Presentation</vt:lpstr>
      <vt:lpstr>Ranges of Database Application</vt:lpstr>
      <vt:lpstr>Ranges of Database Application</vt:lpstr>
      <vt:lpstr>Ranges of Database Application</vt:lpstr>
      <vt:lpstr>Ranges of Database Application</vt:lpstr>
      <vt:lpstr>Ranges of Database Application</vt:lpstr>
      <vt:lpstr>Ranges of Database Application</vt:lpstr>
      <vt:lpstr>EVOLUTION OF DATABASE:</vt:lpstr>
      <vt:lpstr>EVOLUTION OF DATABASE:</vt:lpstr>
      <vt:lpstr>EVOLUTION OF DATABASE:</vt:lpstr>
      <vt:lpstr>EVOLUTION OF DATABASE: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2025-02-18T05:57:14Z</dcterms:modified>
</cp:coreProperties>
</file>